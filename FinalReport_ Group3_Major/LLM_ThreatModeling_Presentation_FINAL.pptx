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30"/>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Paper Base LLM</c:v>
                </c:pt>
              </c:strCache>
            </c:strRef>
          </c:tx>
          <c:spPr>
            <a:solidFill>
              <a:srgbClr val="E63946"/>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Task 1
Satisfaction</c:v>
                  </c:pt>
                  <c:pt idx="1">
                    <c:v>Task 2
Satisfaction</c:v>
                  </c:pt>
                  <c:pt idx="2">
                    <c:v>Hallucination
Rate</c:v>
                  </c:pt>
                  <c:pt idx="3">
                    <c:v>Response
Time (norm)</c:v>
                  </c:pt>
                  <c:pt idx="4">
                    <c:v>MQ
Coverage</c:v>
                  </c:pt>
                </c:lvl>
              </c:multiLvlStrCache>
            </c:multiLvlStrRef>
          </c:cat>
          <c:val>
            <c:numRef>
              <c:f>Sheet1!$B$2:$B$6</c:f>
              <c:numCache>
                <c:formatCode>General</c:formatCode>
                <c:ptCount val="5"/>
                <c:pt idx="0">
                  <c:v>68</c:v>
                </c:pt>
                <c:pt idx="1">
                  <c:v>62</c:v>
                </c:pt>
                <c:pt idx="2">
                  <c:v>35</c:v>
                </c:pt>
                <c:pt idx="3">
                  <c:v>20</c:v>
                </c:pt>
                <c:pt idx="4">
                  <c:v>50</c:v>
                </c:pt>
              </c:numCache>
            </c:numRef>
          </c:val>
        </c:ser>
        <c:ser>
          <c:idx val="1"/>
          <c:order val="1"/>
          <c:tx>
            <c:strRef>
              <c:f>Sheet1!$C$1</c:f>
              <c:strCache>
                <c:ptCount val="1"/>
                <c:pt idx="0">
                  <c:v>Paper RAG-Enhanced LLM</c:v>
                </c:pt>
              </c:strCache>
            </c:strRef>
          </c:tx>
          <c:spPr>
            <a:solidFill>
              <a:srgbClr val="FFB703"/>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Task 1
Satisfaction</c:v>
                  </c:pt>
                  <c:pt idx="1">
                    <c:v>Task 2
Satisfaction</c:v>
                  </c:pt>
                  <c:pt idx="2">
                    <c:v>Hallucination
Rate</c:v>
                  </c:pt>
                  <c:pt idx="3">
                    <c:v>Response
Time (norm)</c:v>
                  </c:pt>
                  <c:pt idx="4">
                    <c:v>MQ
Coverage</c:v>
                  </c:pt>
                </c:lvl>
              </c:multiLvlStrCache>
            </c:multiLvlStrRef>
          </c:cat>
          <c:val>
            <c:numRef>
              <c:f>Sheet1!$C$2:$C$6</c:f>
              <c:numCache>
                <c:formatCode>General</c:formatCode>
                <c:ptCount val="5"/>
                <c:pt idx="0">
                  <c:v>78</c:v>
                </c:pt>
                <c:pt idx="1">
                  <c:v>75</c:v>
                </c:pt>
                <c:pt idx="2">
                  <c:v>18</c:v>
                </c:pt>
                <c:pt idx="3">
                  <c:v>18</c:v>
                </c:pt>
                <c:pt idx="4">
                  <c:v>50</c:v>
                </c:pt>
              </c:numCache>
            </c:numRef>
          </c:val>
        </c:ser>
        <c:ser>
          <c:idx val="2"/>
          <c:order val="2"/>
          <c:tx>
            <c:strRef>
              <c:f>Sheet1!$D$1</c:f>
              <c:strCache>
                <c:ptCount val="1"/>
                <c:pt idx="0">
                  <c:v>Our Improved Solution (est.)</c:v>
                </c:pt>
              </c:strCache>
            </c:strRef>
          </c:tx>
          <c:spPr>
            <a:solidFill>
              <a:srgbClr val="2DC653"/>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Task 1
Satisfaction</c:v>
                  </c:pt>
                  <c:pt idx="1">
                    <c:v>Task 2
Satisfaction</c:v>
                  </c:pt>
                  <c:pt idx="2">
                    <c:v>Hallucination
Rate</c:v>
                  </c:pt>
                  <c:pt idx="3">
                    <c:v>Response
Time (norm)</c:v>
                  </c:pt>
                  <c:pt idx="4">
                    <c:v>MQ
Coverage</c:v>
                  </c:pt>
                </c:lvl>
              </c:multiLvlStrCache>
            </c:multiLvlStrRef>
          </c:cat>
          <c:val>
            <c:numRef>
              <c:f>Sheet1!$D$2:$D$6</c:f>
              <c:numCache>
                <c:formatCode>General</c:formatCode>
                <c:ptCount val="5"/>
                <c:pt idx="0">
                  <c:v>88</c:v>
                </c:pt>
                <c:pt idx="1">
                  <c:v>85</c:v>
                </c:pt>
                <c:pt idx="2">
                  <c:v>5</c:v>
                </c:pt>
                <c:pt idx="3">
                  <c:v>85</c:v>
                </c:pt>
                <c:pt idx="4">
                  <c:v>100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This presentation covers: (1) Problems in threat modeling, (2) Paper's proposed LLM-based solution, (3) Gaps in the solution, (4) Our improved approach with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all 6 major sections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 Modeling Manifesto defines 4 major questions. This paper focuses on MQ1 (system understanding) and MQ2 (threat identification).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The manual effort required for threat modeling is enormous. Even a best-case scenario takes 45 hours. The NVD adds 27,000+ vulnerabilities per year, making it impossible for engineers to stay current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Applying threat modeling requires deep domain expertise that is scarce. Engineers need to translate abstract STRIDE categories into specific product threats and recall relevant CVEs from a fast-growing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 Product information is fragmented across many document types, formats, and teams. Existing tools like the Microsoft Threat Modeling Tool require structured input and don't handle large unstructured documentation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system has 4 stages: input ingestion, NLP-based data processing, vector database construction, and LLM querying. Key technologies: LLM=Large Language Model (Llama 2), RAG=Retrieval-Augmented Generation, NLP=Natural Language Processing (KeyBERT).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LangChain loads PDFs, splits into 500-char chunks, embeds them using sentence transformers, stores in Pinecone vector DB. When a question is asked, RAG retrieves top relevant chunks and Llama 2 generates the answer. Chunk size=500, overlap=20.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KeyBERT (BERT-based keyword extraction) finds relevant terms from design docs. Those terms query the NVD API to retrieve CVEs. Data is cleaned, converted to JSONL, and stored in Pinecone. The LLM then answers security threat questions against this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12 docs, 72 queries, 75%+ satisfaction. RAG-enhanced LLM produced 74-word answers vs 253 words for base LLM. RAG was more accurate, grounded, and 'honest' about uncertainty. Response time was 25-50 seconds, which needs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gaps identified: (1) Missing MQ3/MQ4, (2) Hallucinations without detection, (3) Non-reproducible evaluation, (4) Slow 25-50s response, (5) Privacy risks from cloud sharing, (6) Limited to PDF input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1: The paper covers only 2 of 4 threat modeling questions. MQ3 (What are we going to do?) requires mitigation recommendations. MQ4 (Did we do a good enough job?) requires verification. Without these, the output is incomplete for real-world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2: Hallucinations in security context are dangerous. Gap 3: Binary human evaluation is not reproducible or measurable. Standard metrics like BLEU, ROUGE, and BERTScore should be used. BLEU=Bilingual Evaluation Understudy, ROUGE=Recall-Oriented Understudy, BERTScore=BERT-based semantic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addresses all 6 identified gaps. Key additions: MQ3/MQ4 support, hallucination detection via NVD cross-reference, automated quantitative evaluation (BLEU/ROUGE/BERTScore), Redis caching for speed, local Ollama deployment for privacy, and multi-format document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overview: Multi-format inputs → NLP processing (KeyBERT + spaCy) → Vector DB (local Chroma or cloud Pinecone) → LLM → Answers for all 4 MQs. New components: hallucination validation and automated benchmark evaluation. spaCy=industrial NLP library, NER=Named Entity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MQ3 implementation: Parse MQ2 threats → Build mitigation prompts → Retrieve NIST/OWASP context via RAG → Generate validated mitigations → Auto-generate MQ4 coverage checklist. CVSS=Common Vulnerability Scoring System (1-10 severity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guard has 3 layers: (1) CVE ID regex extraction + NVD API verification — flags non-existent CVE IDs. (2) BERTScore semantic check against RAG context — flags low-confidence claims. (3) STRIDE taxonomy mapping validation — ensures proper threat categorization.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replace binary human eval with 3 automated metrics: BLEU (n-gram precision, originally for translation), ROUGE-L (longest common subsequence), BERTScore (contextual BERT embeddings for semantic similarity). BERT=Bidirectional Encoder Representations from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across 8 dimensions. Our solution improves every dimension: adds MQ3/MQ4, upgrades LLM, adds hallucination validation, uses automated metrics, reduces response time via Redis caching, adds local privacy mode, supports more input formats, and outputs structured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comparison chart. Paper's RAG-LLM achieves 75%+ satisfaction. Our improved solution is estimated to reach 85%+ with added hallucination validation and better evaluation. Hallucination rate drops significantly with our 3-layer validation. Response time improves with Redis caching. MQ coverage goes from 50%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Python files: paper_approach.py (replicates paper), improved_approach.py (our enhancements), benchmark_comparison.py (comparison). Key new classes: HallucinationGuard (3-layer validation), MitigationGenerator (MQ3), MQ4Verifier (coverage check), AutoEvaluator (BLEU/ROUGE/BERTScore).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key takeaways: (1) RAG-LLM threat modeling is viable; (2) MQ3/MQ4 gap is most critical; (3) Hallucination detection is mandatory for security context; (4) Need reproducible automated evaluation; (5) Privacy-first local deployment is essential for enterprise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LLM+RAG+NLP is a valid approach for threat modeling automation. The paper achieves 75%+ satisfaction but leaves critical gaps. Our improved solution adds full MQ coverage, hallucination detection, automated evaluation, faster response, privacy mode, and multi-format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00B4D8">
              <a:alpha val="20000"/>
            </a:srgbClr>
          </a:solidFill>
          <a:ln w="12700">
            <a:solidFill>
              <a:srgbClr val="00B4D8">
                <a:alpha val="20000"/>
              </a:srgbClr>
            </a:solidFill>
            <a:prstDash val="solid"/>
          </a:ln>
        </p:spPr>
      </p:sp>
      <p:sp>
        <p:nvSpPr>
          <p:cNvPr id="3" name="Shape 1"/>
          <p:cNvSpPr/>
          <p:nvPr/>
        </p:nvSpPr>
        <p:spPr>
          <a:xfrm>
            <a:off x="-914400" y="2743200"/>
            <a:ext cx="2743200" cy="2743200"/>
          </a:xfrm>
          <a:prstGeom prst="ellipse">
            <a:avLst/>
          </a:prstGeom>
          <a:solidFill>
            <a:srgbClr val="0096C7">
              <a:alpha val="15000"/>
            </a:srgbClr>
          </a:solidFill>
          <a:ln w="12700">
            <a:solidFill>
              <a:srgbClr val="0096C7">
                <a:alpha val="15000"/>
              </a:srgbClr>
            </a:solidFill>
            <a:prstDash val="solid"/>
          </a:ln>
        </p:spPr>
      </p:sp>
      <p:sp>
        <p:nvSpPr>
          <p:cNvPr id="4" name="Text 2"/>
          <p:cNvSpPr/>
          <p:nvPr/>
        </p:nvSpPr>
        <p:spPr>
          <a:xfrm>
            <a:off x="548640" y="1371600"/>
            <a:ext cx="804672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Facilitating Threat Modeling</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by Leveraging Large Language Models</a:t>
            </a:r>
            <a:endParaRPr lang="en-US" sz="3600" dirty="0"/>
          </a:p>
        </p:txBody>
      </p:sp>
      <p:sp>
        <p:nvSpPr>
          <p:cNvPr id="5" name="Text 3"/>
          <p:cNvSpPr/>
          <p:nvPr/>
        </p:nvSpPr>
        <p:spPr>
          <a:xfrm>
            <a:off x="548640" y="2834640"/>
            <a:ext cx="8046720" cy="731520"/>
          </a:xfrm>
          <a:prstGeom prst="rect">
            <a:avLst/>
          </a:prstGeom>
          <a:noFill/>
          <a:ln/>
        </p:spPr>
        <p:txBody>
          <a:bodyPr wrap="square" rtlCol="0" anchor="t"/>
          <a:lstStyle/>
          <a:p>
            <a:pPr indent="0" marL="0">
              <a:buNone/>
            </a:pPr>
            <a:r>
              <a:rPr lang="en-US" sz="1800" dirty="0">
                <a:solidFill>
                  <a:srgbClr val="00B4D8"/>
                </a:solidFill>
                <a:latin typeface="Calibri" pitchFamily="34" charset="0"/>
                <a:ea typeface="Calibri" pitchFamily="34" charset="-122"/>
                <a:cs typeface="Calibri" pitchFamily="34" charset="-120"/>
              </a:rPr>
              <a:t>A Deep-Dive: Problems · Paper Solutions · Gaps · Proposed Improvements</a:t>
            </a:r>
            <a:endParaRPr lang="en-US" sz="1800" dirty="0"/>
          </a:p>
        </p:txBody>
      </p:sp>
      <p:sp>
        <p:nvSpPr>
          <p:cNvPr id="6" name="Text 4"/>
          <p:cNvSpPr/>
          <p:nvPr/>
        </p:nvSpPr>
        <p:spPr>
          <a:xfrm>
            <a:off x="548640" y="4480560"/>
            <a:ext cx="80467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AISCC 2024 | Elsharef, Zeng, Gu | University of Wisconsin-Milwaukee &amp; IBM Research</a:t>
            </a:r>
            <a:endParaRPr lang="en-US" sz="1100" dirty="0"/>
          </a:p>
        </p:txBody>
      </p:sp>
      <p:pic>
        <p:nvPicPr>
          <p:cNvPr id="7" name="Image 0" descr="preencoded.png">    </p:cNvPr>
          <p:cNvPicPr>
            <a:picLocks noChangeAspect="1"/>
          </p:cNvPicPr>
          <p:nvPr/>
        </p:nvPicPr>
        <p:blipFill>
          <a:blip r:embed="rId1"/>
          <a:stretch>
            <a:fillRect/>
          </a:stretch>
        </p:blipFill>
        <p:spPr>
          <a:xfrm>
            <a:off x="7772400" y="21031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Agenda</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What we'll cover today</a:t>
            </a:r>
            <a:endParaRPr lang="en-US" sz="1800" dirty="0"/>
          </a:p>
        </p:txBody>
      </p:sp>
      <p:sp>
        <p:nvSpPr>
          <p:cNvPr id="5" name="Shape 3"/>
          <p:cNvSpPr/>
          <p:nvPr/>
        </p:nvSpPr>
        <p:spPr>
          <a:xfrm>
            <a:off x="365760" y="128016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57200" y="1463040"/>
            <a:ext cx="594360" cy="594360"/>
          </a:xfrm>
          <a:prstGeom prst="ellipse">
            <a:avLst/>
          </a:prstGeom>
          <a:solidFill>
            <a:srgbClr val="00B4D8"/>
          </a:solidFill>
          <a:ln w="12700">
            <a:solidFill>
              <a:srgbClr val="00B4D8"/>
            </a:solidFill>
            <a:prstDash val="solid"/>
          </a:ln>
        </p:spPr>
      </p:sp>
      <p:sp>
        <p:nvSpPr>
          <p:cNvPr id="7" name="Text 5"/>
          <p:cNvSpPr/>
          <p:nvPr/>
        </p:nvSpPr>
        <p:spPr>
          <a:xfrm>
            <a:off x="457200" y="146304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143000" y="135331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Background &amp; Context</a:t>
            </a:r>
            <a:endParaRPr lang="en-US" sz="1300" dirty="0"/>
          </a:p>
        </p:txBody>
      </p:sp>
      <p:sp>
        <p:nvSpPr>
          <p:cNvPr id="9" name="Text 7"/>
          <p:cNvSpPr/>
          <p:nvPr/>
        </p:nvSpPr>
        <p:spPr>
          <a:xfrm>
            <a:off x="1143000" y="173736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 is threat modeling and why it matters</a:t>
            </a:r>
            <a:endParaRPr lang="en-US" sz="1000" dirty="0"/>
          </a:p>
        </p:txBody>
      </p:sp>
      <p:sp>
        <p:nvSpPr>
          <p:cNvPr id="10" name="Shape 8"/>
          <p:cNvSpPr/>
          <p:nvPr/>
        </p:nvSpPr>
        <p:spPr>
          <a:xfrm>
            <a:off x="365760" y="251460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57200" y="2697480"/>
            <a:ext cx="594360" cy="594360"/>
          </a:xfrm>
          <a:prstGeom prst="ellipse">
            <a:avLst/>
          </a:prstGeom>
          <a:solidFill>
            <a:srgbClr val="E63946"/>
          </a:solidFill>
          <a:ln w="12700">
            <a:solidFill>
              <a:srgbClr val="E63946"/>
            </a:solidFill>
            <a:prstDash val="solid"/>
          </a:ln>
        </p:spPr>
      </p:sp>
      <p:sp>
        <p:nvSpPr>
          <p:cNvPr id="12" name="Text 10"/>
          <p:cNvSpPr/>
          <p:nvPr/>
        </p:nvSpPr>
        <p:spPr>
          <a:xfrm>
            <a:off x="457200" y="269748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1143000" y="258775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Problem Analysis</a:t>
            </a:r>
            <a:endParaRPr lang="en-US" sz="1300" dirty="0"/>
          </a:p>
        </p:txBody>
      </p:sp>
      <p:sp>
        <p:nvSpPr>
          <p:cNvPr id="14" name="Text 12"/>
          <p:cNvSpPr/>
          <p:nvPr/>
        </p:nvSpPr>
        <p:spPr>
          <a:xfrm>
            <a:off x="1143000" y="297180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 core problems identified in the paper</a:t>
            </a:r>
            <a:endParaRPr lang="en-US" sz="1000" dirty="0"/>
          </a:p>
        </p:txBody>
      </p:sp>
      <p:sp>
        <p:nvSpPr>
          <p:cNvPr id="15" name="Shape 13"/>
          <p:cNvSpPr/>
          <p:nvPr/>
        </p:nvSpPr>
        <p:spPr>
          <a:xfrm>
            <a:off x="365760" y="374904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57200" y="3931920"/>
            <a:ext cx="594360" cy="594360"/>
          </a:xfrm>
          <a:prstGeom prst="ellipse">
            <a:avLst/>
          </a:prstGeom>
          <a:solidFill>
            <a:srgbClr val="0096C7"/>
          </a:solidFill>
          <a:ln w="12700">
            <a:solidFill>
              <a:srgbClr val="0096C7"/>
            </a:solidFill>
            <a:prstDash val="solid"/>
          </a:ln>
        </p:spPr>
      </p:sp>
      <p:sp>
        <p:nvSpPr>
          <p:cNvPr id="17" name="Text 15"/>
          <p:cNvSpPr/>
          <p:nvPr/>
        </p:nvSpPr>
        <p:spPr>
          <a:xfrm>
            <a:off x="457200" y="393192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1143000" y="382219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Paper's Solution</a:t>
            </a:r>
            <a:endParaRPr lang="en-US" sz="1300" dirty="0"/>
          </a:p>
        </p:txBody>
      </p:sp>
      <p:sp>
        <p:nvSpPr>
          <p:cNvPr id="19" name="Text 17"/>
          <p:cNvSpPr/>
          <p:nvPr/>
        </p:nvSpPr>
        <p:spPr>
          <a:xfrm>
            <a:off x="1143000" y="420624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LLM + RAG + NLP approach (Llama 2, KeyBERT, Pinecone)</a:t>
            </a:r>
            <a:endParaRPr lang="en-US" sz="1000" dirty="0"/>
          </a:p>
        </p:txBody>
      </p:sp>
      <p:sp>
        <p:nvSpPr>
          <p:cNvPr id="20" name="Shape 18"/>
          <p:cNvSpPr/>
          <p:nvPr/>
        </p:nvSpPr>
        <p:spPr>
          <a:xfrm>
            <a:off x="4846320" y="128016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937760" y="1463040"/>
            <a:ext cx="594360" cy="594360"/>
          </a:xfrm>
          <a:prstGeom prst="ellipse">
            <a:avLst/>
          </a:prstGeom>
          <a:solidFill>
            <a:srgbClr val="FFB703"/>
          </a:solidFill>
          <a:ln w="12700">
            <a:solidFill>
              <a:srgbClr val="FFB703"/>
            </a:solidFill>
            <a:prstDash val="solid"/>
          </a:ln>
        </p:spPr>
      </p:sp>
      <p:sp>
        <p:nvSpPr>
          <p:cNvPr id="22" name="Text 20"/>
          <p:cNvSpPr/>
          <p:nvPr/>
        </p:nvSpPr>
        <p:spPr>
          <a:xfrm>
            <a:off x="4937760" y="146304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5623560" y="135331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Gaps &amp; Limitations</a:t>
            </a:r>
            <a:endParaRPr lang="en-US" sz="1300" dirty="0"/>
          </a:p>
        </p:txBody>
      </p:sp>
      <p:sp>
        <p:nvSpPr>
          <p:cNvPr id="24" name="Text 22"/>
          <p:cNvSpPr/>
          <p:nvPr/>
        </p:nvSpPr>
        <p:spPr>
          <a:xfrm>
            <a:off x="5623560" y="173736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Critical shortcomings of the paper's approach</a:t>
            </a:r>
            <a:endParaRPr lang="en-US" sz="1000" dirty="0"/>
          </a:p>
        </p:txBody>
      </p:sp>
      <p:sp>
        <p:nvSpPr>
          <p:cNvPr id="25" name="Shape 23"/>
          <p:cNvSpPr/>
          <p:nvPr/>
        </p:nvSpPr>
        <p:spPr>
          <a:xfrm>
            <a:off x="4846320" y="251460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937760" y="2697480"/>
            <a:ext cx="594360" cy="594360"/>
          </a:xfrm>
          <a:prstGeom prst="ellipse">
            <a:avLst/>
          </a:prstGeom>
          <a:solidFill>
            <a:srgbClr val="2DC653"/>
          </a:solidFill>
          <a:ln w="12700">
            <a:solidFill>
              <a:srgbClr val="2DC653"/>
            </a:solidFill>
            <a:prstDash val="solid"/>
          </a:ln>
        </p:spPr>
      </p:sp>
      <p:sp>
        <p:nvSpPr>
          <p:cNvPr id="27" name="Text 25"/>
          <p:cNvSpPr/>
          <p:nvPr/>
        </p:nvSpPr>
        <p:spPr>
          <a:xfrm>
            <a:off x="4937760" y="269748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5623560" y="258775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Our Improved Solution</a:t>
            </a:r>
            <a:endParaRPr lang="en-US" sz="1300" dirty="0"/>
          </a:p>
        </p:txBody>
      </p:sp>
      <p:sp>
        <p:nvSpPr>
          <p:cNvPr id="29" name="Text 27"/>
          <p:cNvSpPr/>
          <p:nvPr/>
        </p:nvSpPr>
        <p:spPr>
          <a:xfrm>
            <a:off x="5623560" y="297180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Enhanced architecture addressing each gap</a:t>
            </a:r>
            <a:endParaRPr lang="en-US" sz="1000" dirty="0"/>
          </a:p>
        </p:txBody>
      </p:sp>
      <p:sp>
        <p:nvSpPr>
          <p:cNvPr id="30" name="Shape 28"/>
          <p:cNvSpPr/>
          <p:nvPr/>
        </p:nvSpPr>
        <p:spPr>
          <a:xfrm>
            <a:off x="4846320" y="3749040"/>
            <a:ext cx="4206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4937760" y="3931920"/>
            <a:ext cx="594360" cy="594360"/>
          </a:xfrm>
          <a:prstGeom prst="ellipse">
            <a:avLst/>
          </a:prstGeom>
          <a:solidFill>
            <a:srgbClr val="00B4D8"/>
          </a:solidFill>
          <a:ln w="12700">
            <a:solidFill>
              <a:srgbClr val="00B4D8"/>
            </a:solidFill>
            <a:prstDash val="solid"/>
          </a:ln>
        </p:spPr>
      </p:sp>
      <p:sp>
        <p:nvSpPr>
          <p:cNvPr id="32" name="Text 30"/>
          <p:cNvSpPr/>
          <p:nvPr/>
        </p:nvSpPr>
        <p:spPr>
          <a:xfrm>
            <a:off x="4937760" y="3931920"/>
            <a:ext cx="5943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5623560" y="3822192"/>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Comparison &amp; Results</a:t>
            </a:r>
            <a:endParaRPr lang="en-US" sz="1300" dirty="0"/>
          </a:p>
        </p:txBody>
      </p:sp>
      <p:sp>
        <p:nvSpPr>
          <p:cNvPr id="34" name="Text 32"/>
          <p:cNvSpPr/>
          <p:nvPr/>
        </p:nvSpPr>
        <p:spPr>
          <a:xfrm>
            <a:off x="5623560" y="4206240"/>
            <a:ext cx="329184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Side-by-side evaluation of both approaches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Background: What is Threat Modeling?</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The foundation of product security</a:t>
            </a:r>
            <a:endParaRPr lang="en-US" sz="1800" dirty="0"/>
          </a:p>
        </p:txBody>
      </p:sp>
      <p:sp>
        <p:nvSpPr>
          <p:cNvPr id="5" name="Text 3"/>
          <p:cNvSpPr/>
          <p:nvPr/>
        </p:nvSpPr>
        <p:spPr>
          <a:xfrm>
            <a:off x="457200" y="1188720"/>
            <a:ext cx="8229600" cy="8229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Threat modeling is a structured process to identify, communicate, and understand threats &amp; mitigations</a:t>
            </a:r>
            <a:endParaRPr lang="en-US" sz="1300" dirty="0"/>
          </a:p>
          <a:p>
            <a:pPr indent="0" marL="0">
              <a:buNone/>
            </a:pPr>
            <a:r>
              <a:rPr lang="en-US" sz="1300" i="1" dirty="0">
                <a:solidFill>
                  <a:srgbClr val="64748B"/>
                </a:solidFill>
                <a:latin typeface="Calibri" pitchFamily="34" charset="0"/>
                <a:ea typeface="Calibri" pitchFamily="34" charset="-122"/>
                <a:cs typeface="Calibri" pitchFamily="34" charset="-120"/>
              </a:rPr>
              <a:t>within the context of protecting something of value. — OWASP Foundation</a:t>
            </a:r>
            <a:endParaRPr lang="en-US" sz="1300" dirty="0"/>
          </a:p>
        </p:txBody>
      </p:sp>
      <p:sp>
        <p:nvSpPr>
          <p:cNvPr id="6" name="Shape 4"/>
          <p:cNvSpPr/>
          <p:nvPr/>
        </p:nvSpPr>
        <p:spPr>
          <a:xfrm>
            <a:off x="274320" y="2148840"/>
            <a:ext cx="1965960" cy="2560320"/>
          </a:xfrm>
          <a:prstGeom prst="roundRect">
            <a:avLst>
              <a:gd name="adj" fmla="val 558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777240" y="2286000"/>
            <a:ext cx="960120" cy="960120"/>
          </a:xfrm>
          <a:prstGeom prst="ellipse">
            <a:avLst/>
          </a:prstGeom>
          <a:solidFill>
            <a:srgbClr val="00B4D8"/>
          </a:solidFill>
          <a:ln w="12700">
            <a:solidFill>
              <a:srgbClr val="00B4D8"/>
            </a:solidFill>
            <a:prstDash val="solid"/>
          </a:ln>
        </p:spPr>
      </p:sp>
      <p:sp>
        <p:nvSpPr>
          <p:cNvPr id="8" name="Text 6"/>
          <p:cNvSpPr/>
          <p:nvPr/>
        </p:nvSpPr>
        <p:spPr>
          <a:xfrm>
            <a:off x="777240" y="2286000"/>
            <a:ext cx="96012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MQ1</a:t>
            </a:r>
            <a:endParaRPr lang="en-US" sz="1500" dirty="0"/>
          </a:p>
        </p:txBody>
      </p:sp>
      <p:sp>
        <p:nvSpPr>
          <p:cNvPr id="9" name="Text 7"/>
          <p:cNvSpPr/>
          <p:nvPr/>
        </p:nvSpPr>
        <p:spPr>
          <a:xfrm>
            <a:off x="365760" y="3337560"/>
            <a:ext cx="1783080" cy="640080"/>
          </a:xfrm>
          <a:prstGeom prst="rect">
            <a:avLst/>
          </a:prstGeom>
          <a:noFill/>
          <a:ln/>
        </p:spPr>
        <p:txBody>
          <a:bodyPr wrap="square"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What are we</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working on?</a:t>
            </a:r>
            <a:endParaRPr lang="en-US" sz="1100" dirty="0"/>
          </a:p>
        </p:txBody>
      </p:sp>
      <p:sp>
        <p:nvSpPr>
          <p:cNvPr id="10" name="Text 8"/>
          <p:cNvSpPr/>
          <p:nvPr/>
        </p:nvSpPr>
        <p:spPr>
          <a:xfrm>
            <a:off x="365760" y="4023360"/>
            <a:ext cx="178308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System understanding</a:t>
            </a:r>
            <a:endParaRPr lang="en-US" sz="900" dirty="0"/>
          </a:p>
        </p:txBody>
      </p:sp>
      <p:sp>
        <p:nvSpPr>
          <p:cNvPr id="11" name="Shape 9"/>
          <p:cNvSpPr/>
          <p:nvPr/>
        </p:nvSpPr>
        <p:spPr>
          <a:xfrm>
            <a:off x="2423160" y="2148840"/>
            <a:ext cx="1965960" cy="2560320"/>
          </a:xfrm>
          <a:prstGeom prst="roundRect">
            <a:avLst>
              <a:gd name="adj" fmla="val 558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2926080" y="2286000"/>
            <a:ext cx="960120" cy="960120"/>
          </a:xfrm>
          <a:prstGeom prst="ellipse">
            <a:avLst/>
          </a:prstGeom>
          <a:solidFill>
            <a:srgbClr val="E63946"/>
          </a:solidFill>
          <a:ln w="12700">
            <a:solidFill>
              <a:srgbClr val="E63946"/>
            </a:solidFill>
            <a:prstDash val="solid"/>
          </a:ln>
        </p:spPr>
      </p:sp>
      <p:sp>
        <p:nvSpPr>
          <p:cNvPr id="13" name="Text 11"/>
          <p:cNvSpPr/>
          <p:nvPr/>
        </p:nvSpPr>
        <p:spPr>
          <a:xfrm>
            <a:off x="2926080" y="2286000"/>
            <a:ext cx="96012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MQ2</a:t>
            </a:r>
            <a:endParaRPr lang="en-US" sz="1500" dirty="0"/>
          </a:p>
        </p:txBody>
      </p:sp>
      <p:sp>
        <p:nvSpPr>
          <p:cNvPr id="14" name="Text 12"/>
          <p:cNvSpPr/>
          <p:nvPr/>
        </p:nvSpPr>
        <p:spPr>
          <a:xfrm>
            <a:off x="2514600" y="3337560"/>
            <a:ext cx="1783080" cy="640080"/>
          </a:xfrm>
          <a:prstGeom prst="rect">
            <a:avLst/>
          </a:prstGeom>
          <a:noFill/>
          <a:ln/>
        </p:spPr>
        <p:txBody>
          <a:bodyPr wrap="square"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What can go</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wrong?</a:t>
            </a:r>
            <a:endParaRPr lang="en-US" sz="1100" dirty="0"/>
          </a:p>
        </p:txBody>
      </p:sp>
      <p:sp>
        <p:nvSpPr>
          <p:cNvPr id="15" name="Text 13"/>
          <p:cNvSpPr/>
          <p:nvPr/>
        </p:nvSpPr>
        <p:spPr>
          <a:xfrm>
            <a:off x="2514600" y="4023360"/>
            <a:ext cx="178308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Threat identification</a:t>
            </a:r>
            <a:endParaRPr lang="en-US" sz="900" dirty="0"/>
          </a:p>
        </p:txBody>
      </p:sp>
      <p:sp>
        <p:nvSpPr>
          <p:cNvPr id="16" name="Shape 14"/>
          <p:cNvSpPr/>
          <p:nvPr/>
        </p:nvSpPr>
        <p:spPr>
          <a:xfrm>
            <a:off x="4572000" y="2148840"/>
            <a:ext cx="1965960" cy="2560320"/>
          </a:xfrm>
          <a:prstGeom prst="roundRect">
            <a:avLst>
              <a:gd name="adj" fmla="val 558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5074920" y="2286000"/>
            <a:ext cx="960120" cy="960120"/>
          </a:xfrm>
          <a:prstGeom prst="ellipse">
            <a:avLst/>
          </a:prstGeom>
          <a:solidFill>
            <a:srgbClr val="FFB703"/>
          </a:solidFill>
          <a:ln w="12700">
            <a:solidFill>
              <a:srgbClr val="FFB703"/>
            </a:solidFill>
            <a:prstDash val="solid"/>
          </a:ln>
        </p:spPr>
      </p:sp>
      <p:sp>
        <p:nvSpPr>
          <p:cNvPr id="18" name="Text 16"/>
          <p:cNvSpPr/>
          <p:nvPr/>
        </p:nvSpPr>
        <p:spPr>
          <a:xfrm>
            <a:off x="5074920" y="2286000"/>
            <a:ext cx="96012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MQ3</a:t>
            </a:r>
            <a:endParaRPr lang="en-US" sz="1500" dirty="0"/>
          </a:p>
        </p:txBody>
      </p:sp>
      <p:sp>
        <p:nvSpPr>
          <p:cNvPr id="19" name="Text 17"/>
          <p:cNvSpPr/>
          <p:nvPr/>
        </p:nvSpPr>
        <p:spPr>
          <a:xfrm>
            <a:off x="4663440" y="3337560"/>
            <a:ext cx="1783080" cy="640080"/>
          </a:xfrm>
          <a:prstGeom prst="rect">
            <a:avLst/>
          </a:prstGeom>
          <a:noFill/>
          <a:ln/>
        </p:spPr>
        <p:txBody>
          <a:bodyPr wrap="square"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What are we</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going to do?</a:t>
            </a:r>
            <a:endParaRPr lang="en-US" sz="1100" dirty="0"/>
          </a:p>
        </p:txBody>
      </p:sp>
      <p:sp>
        <p:nvSpPr>
          <p:cNvPr id="20" name="Text 18"/>
          <p:cNvSpPr/>
          <p:nvPr/>
        </p:nvSpPr>
        <p:spPr>
          <a:xfrm>
            <a:off x="4663440" y="4023360"/>
            <a:ext cx="178308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Mitigation planning</a:t>
            </a:r>
            <a:endParaRPr lang="en-US" sz="900" dirty="0"/>
          </a:p>
        </p:txBody>
      </p:sp>
      <p:sp>
        <p:nvSpPr>
          <p:cNvPr id="21" name="Shape 19"/>
          <p:cNvSpPr/>
          <p:nvPr/>
        </p:nvSpPr>
        <p:spPr>
          <a:xfrm>
            <a:off x="6720840" y="2148840"/>
            <a:ext cx="1965960" cy="2560320"/>
          </a:xfrm>
          <a:prstGeom prst="roundRect">
            <a:avLst>
              <a:gd name="adj" fmla="val 558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7223760" y="2286000"/>
            <a:ext cx="960120" cy="960120"/>
          </a:xfrm>
          <a:prstGeom prst="ellipse">
            <a:avLst/>
          </a:prstGeom>
          <a:solidFill>
            <a:srgbClr val="2DC653"/>
          </a:solidFill>
          <a:ln w="12700">
            <a:solidFill>
              <a:srgbClr val="2DC653"/>
            </a:solidFill>
            <a:prstDash val="solid"/>
          </a:ln>
        </p:spPr>
      </p:sp>
      <p:sp>
        <p:nvSpPr>
          <p:cNvPr id="23" name="Text 21"/>
          <p:cNvSpPr/>
          <p:nvPr/>
        </p:nvSpPr>
        <p:spPr>
          <a:xfrm>
            <a:off x="7223760" y="2286000"/>
            <a:ext cx="960120" cy="9601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MQ4</a:t>
            </a:r>
            <a:endParaRPr lang="en-US" sz="1500" dirty="0"/>
          </a:p>
        </p:txBody>
      </p:sp>
      <p:sp>
        <p:nvSpPr>
          <p:cNvPr id="24" name="Text 22"/>
          <p:cNvSpPr/>
          <p:nvPr/>
        </p:nvSpPr>
        <p:spPr>
          <a:xfrm>
            <a:off x="6812280" y="3337560"/>
            <a:ext cx="1783080" cy="640080"/>
          </a:xfrm>
          <a:prstGeom prst="rect">
            <a:avLst/>
          </a:prstGeom>
          <a:noFill/>
          <a:ln/>
        </p:spPr>
        <p:txBody>
          <a:bodyPr wrap="square"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Did we do a</a:t>
            </a:r>
            <a:endParaRPr lang="en-US" sz="1100" dirty="0"/>
          </a:p>
          <a:p>
            <a:pPr algn="ctr" indent="0" marL="0">
              <a:buNone/>
            </a:pPr>
            <a:r>
              <a:rPr lang="en-US" sz="1100" b="1" dirty="0">
                <a:solidFill>
                  <a:srgbClr val="1A1A2E"/>
                </a:solidFill>
                <a:latin typeface="Calibri" pitchFamily="34" charset="0"/>
                <a:ea typeface="Calibri" pitchFamily="34" charset="-122"/>
                <a:cs typeface="Calibri" pitchFamily="34" charset="-120"/>
              </a:rPr>
              <a:t>good enough job?</a:t>
            </a:r>
            <a:endParaRPr lang="en-US" sz="1100" dirty="0"/>
          </a:p>
        </p:txBody>
      </p:sp>
      <p:sp>
        <p:nvSpPr>
          <p:cNvPr id="25" name="Text 23"/>
          <p:cNvSpPr/>
          <p:nvPr/>
        </p:nvSpPr>
        <p:spPr>
          <a:xfrm>
            <a:off x="6812280" y="4023360"/>
            <a:ext cx="178308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Evaluation</a:t>
            </a:r>
            <a:endParaRPr lang="en-US" sz="900" dirty="0"/>
          </a:p>
        </p:txBody>
      </p:sp>
      <p:sp>
        <p:nvSpPr>
          <p:cNvPr id="26" name="Text 24"/>
          <p:cNvSpPr/>
          <p:nvPr/>
        </p:nvSpPr>
        <p:spPr>
          <a:xfrm>
            <a:off x="457200" y="4709160"/>
            <a:ext cx="8229600" cy="274320"/>
          </a:xfrm>
          <a:prstGeom prst="rect">
            <a:avLst/>
          </a:prstGeom>
          <a:noFill/>
          <a:ln/>
        </p:spPr>
        <p:txBody>
          <a:bodyPr wrap="square" rtlCol="0" anchor="ctr"/>
          <a:lstStyle/>
          <a:p>
            <a:pPr algn="ctr" indent="0" marL="0">
              <a:buNone/>
            </a:pPr>
            <a:r>
              <a:rPr lang="en-US" sz="1200" b="1" dirty="0">
                <a:solidFill>
                  <a:srgbClr val="00B4D8"/>
                </a:solidFill>
                <a:latin typeface="Calibri" pitchFamily="34" charset="0"/>
                <a:ea typeface="Calibri" pitchFamily="34" charset="-122"/>
                <a:cs typeface="Calibri" pitchFamily="34" charset="-120"/>
              </a:rPr>
              <a:t>This paper focuses on MQ1 and MQ2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63946"/>
          </a:solidFill>
          <a:ln w="12700">
            <a:solidFill>
              <a:srgbClr val="E63946"/>
            </a:solidFill>
            <a:prstDash val="solid"/>
          </a:ln>
        </p:spPr>
      </p:sp>
      <p:sp>
        <p:nvSpPr>
          <p:cNvPr id="3" name="Text 1"/>
          <p:cNvSpPr/>
          <p:nvPr/>
        </p:nvSpPr>
        <p:spPr>
          <a:xfrm>
            <a:off x="457200" y="18288"/>
            <a:ext cx="8229600" cy="320040"/>
          </a:xfrm>
          <a:prstGeom prst="rect">
            <a:avLst/>
          </a:prstGeom>
          <a:noFill/>
          <a:ln/>
        </p:spPr>
        <p:txBody>
          <a:bodyPr wrap="square"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PROBLEM 1 OF 3</a:t>
            </a:r>
            <a:endParaRPr lang="en-US" sz="1100" dirty="0"/>
          </a:p>
        </p:txBody>
      </p:sp>
      <p:sp>
        <p:nvSpPr>
          <p:cNvPr id="4" name="Text 2"/>
          <p:cNvSpPr/>
          <p:nvPr/>
        </p:nvSpPr>
        <p:spPr>
          <a:xfrm>
            <a:off x="457200" y="320040"/>
            <a:ext cx="822960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Massive Manual Effort in Threat Modeling</a:t>
            </a:r>
            <a:endParaRPr lang="en-US" sz="2400" dirty="0"/>
          </a:p>
        </p:txBody>
      </p:sp>
      <p:pic>
        <p:nvPicPr>
          <p:cNvPr id="5" name="Image 0" descr="preencoded.png">    </p:cNvPr>
          <p:cNvPicPr>
            <a:picLocks noChangeAspect="1"/>
          </p:cNvPicPr>
          <p:nvPr/>
        </p:nvPicPr>
        <p:blipFill>
          <a:blip r:embed="rId1"/>
          <a:stretch>
            <a:fillRect/>
          </a:stretch>
        </p:blipFill>
        <p:spPr>
          <a:xfrm>
            <a:off x="274320" y="1188720"/>
            <a:ext cx="640080" cy="640080"/>
          </a:xfrm>
          <a:prstGeom prst="rect">
            <a:avLst/>
          </a:prstGeom>
        </p:spPr>
      </p:pic>
      <p:sp>
        <p:nvSpPr>
          <p:cNvPr id="6" name="Shape 3"/>
          <p:cNvSpPr/>
          <p:nvPr/>
        </p:nvSpPr>
        <p:spPr>
          <a:xfrm>
            <a:off x="365760" y="1143000"/>
            <a:ext cx="4206240" cy="1325880"/>
          </a:xfrm>
          <a:prstGeom prst="roundRect">
            <a:avLst>
              <a:gd name="adj" fmla="val 8276"/>
            </a:avLst>
          </a:prstGeom>
          <a:solidFill>
            <a:srgbClr val="1F0A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Text 4"/>
          <p:cNvSpPr/>
          <p:nvPr/>
        </p:nvSpPr>
        <p:spPr>
          <a:xfrm>
            <a:off x="502920" y="1234440"/>
            <a:ext cx="3931920" cy="502920"/>
          </a:xfrm>
          <a:prstGeom prst="rect">
            <a:avLst/>
          </a:prstGeom>
          <a:noFill/>
          <a:ln/>
        </p:spPr>
        <p:txBody>
          <a:bodyPr wrap="square" lIns="0" tIns="0" rIns="0" bIns="0" rtlCol="0" anchor="ctr"/>
          <a:lstStyle/>
          <a:p>
            <a:pPr indent="0" marL="0">
              <a:buNone/>
            </a:pPr>
            <a:r>
              <a:rPr lang="en-US" sz="2600" b="1" dirty="0">
                <a:solidFill>
                  <a:srgbClr val="E63946"/>
                </a:solidFill>
                <a:latin typeface="Calibri" pitchFamily="34" charset="0"/>
                <a:ea typeface="Calibri" pitchFamily="34" charset="-122"/>
                <a:cs typeface="Calibri" pitchFamily="34" charset="-120"/>
              </a:rPr>
              <a:t>45+ Hours</a:t>
            </a:r>
            <a:endParaRPr lang="en-US" sz="2600" dirty="0"/>
          </a:p>
        </p:txBody>
      </p:sp>
      <p:sp>
        <p:nvSpPr>
          <p:cNvPr id="8" name="Text 5"/>
          <p:cNvSpPr/>
          <p:nvPr/>
        </p:nvSpPr>
        <p:spPr>
          <a:xfrm>
            <a:off x="502920" y="1737360"/>
            <a:ext cx="3931920" cy="548640"/>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Best-case scenario for creating one threat model (Yskout et al., 2020)</a:t>
            </a:r>
            <a:endParaRPr lang="en-US" sz="1100" dirty="0"/>
          </a:p>
        </p:txBody>
      </p:sp>
      <p:sp>
        <p:nvSpPr>
          <p:cNvPr id="9" name="Shape 6"/>
          <p:cNvSpPr/>
          <p:nvPr/>
        </p:nvSpPr>
        <p:spPr>
          <a:xfrm>
            <a:off x="365760" y="2697480"/>
            <a:ext cx="4206240" cy="1325880"/>
          </a:xfrm>
          <a:prstGeom prst="roundRect">
            <a:avLst>
              <a:gd name="adj" fmla="val 8276"/>
            </a:avLst>
          </a:prstGeom>
          <a:solidFill>
            <a:srgbClr val="1F0A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0" name="Text 7"/>
          <p:cNvSpPr/>
          <p:nvPr/>
        </p:nvSpPr>
        <p:spPr>
          <a:xfrm>
            <a:off x="502920" y="2788920"/>
            <a:ext cx="3931920" cy="502920"/>
          </a:xfrm>
          <a:prstGeom prst="rect">
            <a:avLst/>
          </a:prstGeom>
          <a:noFill/>
          <a:ln/>
        </p:spPr>
        <p:txBody>
          <a:bodyPr wrap="square" lIns="0" tIns="0" rIns="0" bIns="0" rtlCol="0" anchor="ctr"/>
          <a:lstStyle/>
          <a:p>
            <a:pPr indent="0" marL="0">
              <a:buNone/>
            </a:pPr>
            <a:r>
              <a:rPr lang="en-US" sz="2600" b="1" dirty="0">
                <a:solidFill>
                  <a:srgbClr val="E63946"/>
                </a:solidFill>
                <a:latin typeface="Calibri" pitchFamily="34" charset="0"/>
                <a:ea typeface="Calibri" pitchFamily="34" charset="-122"/>
                <a:cs typeface="Calibri" pitchFamily="34" charset="-120"/>
              </a:rPr>
              <a:t>27,000+</a:t>
            </a:r>
            <a:endParaRPr lang="en-US" sz="2600" dirty="0"/>
          </a:p>
        </p:txBody>
      </p:sp>
      <p:sp>
        <p:nvSpPr>
          <p:cNvPr id="11" name="Text 8"/>
          <p:cNvSpPr/>
          <p:nvPr/>
        </p:nvSpPr>
        <p:spPr>
          <a:xfrm>
            <a:off x="502920" y="3291840"/>
            <a:ext cx="3931920" cy="548640"/>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New CVEs added to NVD in 2023 alone — impossible to track manually</a:t>
            </a:r>
            <a:endParaRPr lang="en-US" sz="1100" dirty="0"/>
          </a:p>
        </p:txBody>
      </p:sp>
      <p:sp>
        <p:nvSpPr>
          <p:cNvPr id="12" name="Shape 9"/>
          <p:cNvSpPr/>
          <p:nvPr/>
        </p:nvSpPr>
        <p:spPr>
          <a:xfrm>
            <a:off x="4846320" y="1143000"/>
            <a:ext cx="4206240" cy="1325880"/>
          </a:xfrm>
          <a:prstGeom prst="roundRect">
            <a:avLst>
              <a:gd name="adj" fmla="val 8276"/>
            </a:avLst>
          </a:prstGeom>
          <a:solidFill>
            <a:srgbClr val="1F0A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Text 10"/>
          <p:cNvSpPr/>
          <p:nvPr/>
        </p:nvSpPr>
        <p:spPr>
          <a:xfrm>
            <a:off x="4983480" y="1234440"/>
            <a:ext cx="3931920" cy="502920"/>
          </a:xfrm>
          <a:prstGeom prst="rect">
            <a:avLst/>
          </a:prstGeom>
          <a:noFill/>
          <a:ln/>
        </p:spPr>
        <p:txBody>
          <a:bodyPr wrap="square" lIns="0" tIns="0" rIns="0" bIns="0" rtlCol="0" anchor="ctr"/>
          <a:lstStyle/>
          <a:p>
            <a:pPr indent="0" marL="0">
              <a:buNone/>
            </a:pPr>
            <a:r>
              <a:rPr lang="en-US" sz="2600" b="1" dirty="0">
                <a:solidFill>
                  <a:srgbClr val="E63946"/>
                </a:solidFill>
                <a:latin typeface="Calibri" pitchFamily="34" charset="0"/>
                <a:ea typeface="Calibri" pitchFamily="34" charset="-122"/>
                <a:cs typeface="Calibri" pitchFamily="34" charset="-120"/>
              </a:rPr>
              <a:t>231,000+</a:t>
            </a:r>
            <a:endParaRPr lang="en-US" sz="2600" dirty="0"/>
          </a:p>
        </p:txBody>
      </p:sp>
      <p:sp>
        <p:nvSpPr>
          <p:cNvPr id="14" name="Text 11"/>
          <p:cNvSpPr/>
          <p:nvPr/>
        </p:nvSpPr>
        <p:spPr>
          <a:xfrm>
            <a:off x="4983480" y="1737360"/>
            <a:ext cx="3931920" cy="548640"/>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Total vulnerabilities in the National Vulnerability Database (NVD)</a:t>
            </a:r>
            <a:endParaRPr lang="en-US" sz="1100" dirty="0"/>
          </a:p>
        </p:txBody>
      </p:sp>
      <p:sp>
        <p:nvSpPr>
          <p:cNvPr id="15" name="Shape 12"/>
          <p:cNvSpPr/>
          <p:nvPr/>
        </p:nvSpPr>
        <p:spPr>
          <a:xfrm>
            <a:off x="4846320" y="2697480"/>
            <a:ext cx="4206240" cy="1325880"/>
          </a:xfrm>
          <a:prstGeom prst="roundRect">
            <a:avLst>
              <a:gd name="adj" fmla="val 8276"/>
            </a:avLst>
          </a:prstGeom>
          <a:solidFill>
            <a:srgbClr val="1F0A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Text 13"/>
          <p:cNvSpPr/>
          <p:nvPr/>
        </p:nvSpPr>
        <p:spPr>
          <a:xfrm>
            <a:off x="4983480" y="2788920"/>
            <a:ext cx="3931920" cy="502920"/>
          </a:xfrm>
          <a:prstGeom prst="rect">
            <a:avLst/>
          </a:prstGeom>
          <a:noFill/>
          <a:ln/>
        </p:spPr>
        <p:txBody>
          <a:bodyPr wrap="square" lIns="0" tIns="0" rIns="0" bIns="0" rtlCol="0" anchor="ctr"/>
          <a:lstStyle/>
          <a:p>
            <a:pPr indent="0" marL="0">
              <a:buNone/>
            </a:pPr>
            <a:r>
              <a:rPr lang="en-US" sz="2600" b="1" dirty="0">
                <a:solidFill>
                  <a:srgbClr val="E63946"/>
                </a:solidFill>
                <a:latin typeface="Calibri" pitchFamily="34" charset="0"/>
                <a:ea typeface="Calibri" pitchFamily="34" charset="-122"/>
                <a:cs typeface="Calibri" pitchFamily="34" charset="-120"/>
              </a:rPr>
              <a:t>Multi-team</a:t>
            </a:r>
            <a:endParaRPr lang="en-US" sz="2600" dirty="0"/>
          </a:p>
        </p:txBody>
      </p:sp>
      <p:sp>
        <p:nvSpPr>
          <p:cNvPr id="17" name="Text 14"/>
          <p:cNvSpPr/>
          <p:nvPr/>
        </p:nvSpPr>
        <p:spPr>
          <a:xfrm>
            <a:off x="4983480" y="3291840"/>
            <a:ext cx="3931920" cy="548640"/>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Security engineers + product architects must collaborate across large doc sets</a:t>
            </a:r>
            <a:endParaRPr lang="en-US" sz="1100" dirty="0"/>
          </a:p>
        </p:txBody>
      </p:sp>
      <p:sp>
        <p:nvSpPr>
          <p:cNvPr id="18" name="Text 15"/>
          <p:cNvSpPr/>
          <p:nvPr/>
        </p:nvSpPr>
        <p:spPr>
          <a:xfrm>
            <a:off x="365760" y="4297680"/>
            <a:ext cx="8412480" cy="685800"/>
          </a:xfrm>
          <a:prstGeom prst="rect">
            <a:avLst/>
          </a:prstGeom>
          <a:noFill/>
          <a:ln/>
        </p:spPr>
        <p:txBody>
          <a:bodyPr wrap="square" rtlCol="0" anchor="ctr"/>
          <a:lstStyle/>
          <a:p>
            <a:pPr indent="0" marL="0">
              <a:buNone/>
            </a:pPr>
            <a:r>
              <a:rPr lang="en-US" sz="1100" i="1" dirty="0">
                <a:solidFill>
                  <a:srgbClr val="BBBBBB"/>
                </a:solidFill>
                <a:latin typeface="Calibri" pitchFamily="34" charset="0"/>
                <a:ea typeface="Calibri" pitchFamily="34" charset="-122"/>
                <a:cs typeface="Calibri" pitchFamily="34" charset="-120"/>
              </a:rPr>
              <a:t>Security engineers must manually parse huge volumes of technical documentation, cross-reference vulnerabilities,</a:t>
            </a:r>
            <a:endParaRPr lang="en-US" sz="1100" dirty="0"/>
          </a:p>
          <a:p>
            <a:pPr indent="0" marL="0">
              <a:buNone/>
            </a:pPr>
            <a:r>
              <a:rPr lang="en-US" sz="1100" i="1" dirty="0">
                <a:solidFill>
                  <a:srgbClr val="BBBBBB"/>
                </a:solidFill>
                <a:latin typeface="Calibri" pitchFamily="34" charset="0"/>
                <a:ea typeface="Calibri" pitchFamily="34" charset="-122"/>
                <a:cs typeface="Calibri" pitchFamily="34" charset="-120"/>
              </a:rPr>
              <a:t>and translate abstract methodology into concrete threats — all while the threat landscape expands daily.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63946"/>
          </a:solidFill>
          <a:ln w="12700">
            <a:solidFill>
              <a:srgbClr val="E63946"/>
            </a:solidFill>
            <a:prstDash val="solid"/>
          </a:ln>
        </p:spPr>
      </p:sp>
      <p:sp>
        <p:nvSpPr>
          <p:cNvPr id="3" name="Text 1"/>
          <p:cNvSpPr/>
          <p:nvPr/>
        </p:nvSpPr>
        <p:spPr>
          <a:xfrm>
            <a:off x="457200" y="18288"/>
            <a:ext cx="8229600" cy="320040"/>
          </a:xfrm>
          <a:prstGeom prst="rect">
            <a:avLst/>
          </a:prstGeom>
          <a:noFill/>
          <a:ln/>
        </p:spPr>
        <p:txBody>
          <a:bodyPr wrap="square"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PROBLEM 2 OF 3</a:t>
            </a:r>
            <a:endParaRPr lang="en-US" sz="1100" dirty="0"/>
          </a:p>
        </p:txBody>
      </p:sp>
      <p:sp>
        <p:nvSpPr>
          <p:cNvPr id="4" name="Text 2"/>
          <p:cNvSpPr/>
          <p:nvPr/>
        </p:nvSpPr>
        <p:spPr>
          <a:xfrm>
            <a:off x="457200" y="320040"/>
            <a:ext cx="822960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Deep Domain Knowledge Gap</a:t>
            </a:r>
            <a:endParaRPr lang="en-US" sz="2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500" b="1" dirty="0">
                <a:solidFill>
                  <a:srgbClr val="00B4D8"/>
                </a:solidFill>
                <a:latin typeface="Calibri" pitchFamily="34" charset="0"/>
                <a:ea typeface="Calibri" pitchFamily="34" charset="-122"/>
                <a:cs typeface="Calibri" pitchFamily="34" charset="-120"/>
              </a:rPr>
              <a:t>Security engineers must:</a:t>
            </a:r>
            <a:endParaRPr lang="en-US" sz="1500" dirty="0"/>
          </a:p>
        </p:txBody>
      </p:sp>
      <p:sp>
        <p:nvSpPr>
          <p:cNvPr id="6" name="Shape 4"/>
          <p:cNvSpPr/>
          <p:nvPr/>
        </p:nvSpPr>
        <p:spPr>
          <a:xfrm>
            <a:off x="365760" y="1645920"/>
            <a:ext cx="8412480" cy="868680"/>
          </a:xfrm>
          <a:prstGeom prst="roundRect">
            <a:avLst>
              <a:gd name="adj" fmla="val 12632"/>
            </a:avLst>
          </a:prstGeom>
          <a:solidFill>
            <a:srgbClr val="12122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548640" y="1828800"/>
            <a:ext cx="502920" cy="502920"/>
          </a:xfrm>
          <a:prstGeom prst="rect">
            <a:avLst/>
          </a:prstGeom>
        </p:spPr>
      </p:pic>
      <p:sp>
        <p:nvSpPr>
          <p:cNvPr id="8" name="Text 5"/>
          <p:cNvSpPr/>
          <p:nvPr/>
        </p:nvSpPr>
        <p:spPr>
          <a:xfrm>
            <a:off x="1188720" y="1691640"/>
            <a:ext cx="72237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Translate Abstract → Concrete</a:t>
            </a:r>
            <a:endParaRPr lang="en-US" sz="1300" dirty="0"/>
          </a:p>
        </p:txBody>
      </p:sp>
      <p:sp>
        <p:nvSpPr>
          <p:cNvPr id="9" name="Text 6"/>
          <p:cNvSpPr/>
          <p:nvPr/>
        </p:nvSpPr>
        <p:spPr>
          <a:xfrm>
            <a:off x="1188720" y="2057400"/>
            <a:ext cx="7223760" cy="347472"/>
          </a:xfrm>
          <a:prstGeom prst="rect">
            <a:avLst/>
          </a:prstGeom>
          <a:noFill/>
          <a:ln/>
        </p:spPr>
        <p:txBody>
          <a:bodyPr wrap="square" lIns="0" tIns="0" rIns="0" bIns="0" rtlCol="0" anchor="ctr"/>
          <a:lstStyle/>
          <a:p>
            <a:pPr indent="0" marL="0">
              <a:buNone/>
            </a:pPr>
            <a:r>
              <a:rPr lang="en-US" sz="1100" dirty="0">
                <a:solidFill>
                  <a:srgbClr val="AAAACC"/>
                </a:solidFill>
                <a:latin typeface="Calibri" pitchFamily="34" charset="0"/>
                <a:ea typeface="Calibri" pitchFamily="34" charset="-122"/>
                <a:cs typeface="Calibri" pitchFamily="34" charset="-120"/>
              </a:rPr>
              <a:t>Convert STRIDE methodology categories into specific threats for this product's unique design</a:t>
            </a:r>
            <a:endParaRPr lang="en-US" sz="1100" dirty="0"/>
          </a:p>
        </p:txBody>
      </p:sp>
      <p:sp>
        <p:nvSpPr>
          <p:cNvPr id="10" name="Shape 7"/>
          <p:cNvSpPr/>
          <p:nvPr/>
        </p:nvSpPr>
        <p:spPr>
          <a:xfrm>
            <a:off x="365760" y="2697480"/>
            <a:ext cx="8412480" cy="868680"/>
          </a:xfrm>
          <a:prstGeom prst="roundRect">
            <a:avLst>
              <a:gd name="adj" fmla="val 12632"/>
            </a:avLst>
          </a:prstGeom>
          <a:solidFill>
            <a:srgbClr val="12122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48640" y="2880360"/>
            <a:ext cx="502920" cy="502920"/>
          </a:xfrm>
          <a:prstGeom prst="rect">
            <a:avLst/>
          </a:prstGeom>
        </p:spPr>
      </p:pic>
      <p:sp>
        <p:nvSpPr>
          <p:cNvPr id="12" name="Text 8"/>
          <p:cNvSpPr/>
          <p:nvPr/>
        </p:nvSpPr>
        <p:spPr>
          <a:xfrm>
            <a:off x="1188720" y="2743200"/>
            <a:ext cx="72237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Master Evolving CVE Landscape</a:t>
            </a:r>
            <a:endParaRPr lang="en-US" sz="1300" dirty="0"/>
          </a:p>
        </p:txBody>
      </p:sp>
      <p:sp>
        <p:nvSpPr>
          <p:cNvPr id="13" name="Text 9"/>
          <p:cNvSpPr/>
          <p:nvPr/>
        </p:nvSpPr>
        <p:spPr>
          <a:xfrm>
            <a:off x="1188720" y="3108960"/>
            <a:ext cx="7223760" cy="347472"/>
          </a:xfrm>
          <a:prstGeom prst="rect">
            <a:avLst/>
          </a:prstGeom>
          <a:noFill/>
          <a:ln/>
        </p:spPr>
        <p:txBody>
          <a:bodyPr wrap="square" lIns="0" tIns="0" rIns="0" bIns="0" rtlCol="0" anchor="ctr"/>
          <a:lstStyle/>
          <a:p>
            <a:pPr indent="0" marL="0">
              <a:buNone/>
            </a:pPr>
            <a:r>
              <a:rPr lang="en-US" sz="1100" dirty="0">
                <a:solidFill>
                  <a:srgbClr val="AAAACC"/>
                </a:solidFill>
                <a:latin typeface="Calibri" pitchFamily="34" charset="0"/>
                <a:ea typeface="Calibri" pitchFamily="34" charset="-122"/>
                <a:cs typeface="Calibri" pitchFamily="34" charset="-120"/>
              </a:rPr>
              <a:t>Continuously recall relevant current vulnerabilities from thousands of new entries</a:t>
            </a:r>
            <a:endParaRPr lang="en-US" sz="1100" dirty="0"/>
          </a:p>
        </p:txBody>
      </p:sp>
      <p:sp>
        <p:nvSpPr>
          <p:cNvPr id="14" name="Shape 10"/>
          <p:cNvSpPr/>
          <p:nvPr/>
        </p:nvSpPr>
        <p:spPr>
          <a:xfrm>
            <a:off x="365760" y="3749040"/>
            <a:ext cx="8412480" cy="868680"/>
          </a:xfrm>
          <a:prstGeom prst="roundRect">
            <a:avLst>
              <a:gd name="adj" fmla="val 12632"/>
            </a:avLst>
          </a:prstGeom>
          <a:solidFill>
            <a:srgbClr val="12122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548640" y="3931920"/>
            <a:ext cx="502920" cy="502920"/>
          </a:xfrm>
          <a:prstGeom prst="rect">
            <a:avLst/>
          </a:prstGeom>
        </p:spPr>
      </p:pic>
      <p:sp>
        <p:nvSpPr>
          <p:cNvPr id="16" name="Text 11"/>
          <p:cNvSpPr/>
          <p:nvPr/>
        </p:nvSpPr>
        <p:spPr>
          <a:xfrm>
            <a:off x="1188720" y="3794760"/>
            <a:ext cx="72237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Bridge Design ↔ Security Domains</a:t>
            </a:r>
            <a:endParaRPr lang="en-US" sz="1300" dirty="0"/>
          </a:p>
        </p:txBody>
      </p:sp>
      <p:sp>
        <p:nvSpPr>
          <p:cNvPr id="17" name="Text 12"/>
          <p:cNvSpPr/>
          <p:nvPr/>
        </p:nvSpPr>
        <p:spPr>
          <a:xfrm>
            <a:off x="1188720" y="4160520"/>
            <a:ext cx="7223760" cy="347472"/>
          </a:xfrm>
          <a:prstGeom prst="rect">
            <a:avLst/>
          </a:prstGeom>
          <a:noFill/>
          <a:ln/>
        </p:spPr>
        <p:txBody>
          <a:bodyPr wrap="square" lIns="0" tIns="0" rIns="0" bIns="0" rtlCol="0" anchor="ctr"/>
          <a:lstStyle/>
          <a:p>
            <a:pPr indent="0" marL="0">
              <a:buNone/>
            </a:pPr>
            <a:r>
              <a:rPr lang="en-US" sz="1100" dirty="0">
                <a:solidFill>
                  <a:srgbClr val="AAAACC"/>
                </a:solidFill>
                <a:latin typeface="Calibri" pitchFamily="34" charset="0"/>
                <a:ea typeface="Calibri" pitchFamily="34" charset="-122"/>
                <a:cs typeface="Calibri" pitchFamily="34" charset="-120"/>
              </a:rPr>
              <a:t>Connect product architecture decisions with their security implications across huge spec documents</a:t>
            </a:r>
            <a:endParaRPr lang="en-US" sz="1100" dirty="0"/>
          </a:p>
        </p:txBody>
      </p:sp>
      <p:sp>
        <p:nvSpPr>
          <p:cNvPr id="18" name="Text 13"/>
          <p:cNvSpPr/>
          <p:nvPr/>
        </p:nvSpPr>
        <p:spPr>
          <a:xfrm>
            <a:off x="365760" y="4663440"/>
            <a:ext cx="8412480" cy="320040"/>
          </a:xfrm>
          <a:prstGeom prst="rect">
            <a:avLst/>
          </a:prstGeom>
          <a:noFill/>
          <a:ln/>
        </p:spPr>
        <p:txBody>
          <a:bodyPr wrap="square" rtlCol="0" anchor="ctr"/>
          <a:lstStyle/>
          <a:p>
            <a:pPr indent="0" marL="0">
              <a:buNone/>
            </a:pPr>
            <a:r>
              <a:rPr lang="en-US" sz="1100" i="1" dirty="0">
                <a:solidFill>
                  <a:srgbClr val="888899"/>
                </a:solidFill>
                <a:latin typeface="Calibri" pitchFamily="34" charset="0"/>
                <a:ea typeface="Calibri" pitchFamily="34" charset="-122"/>
                <a:cs typeface="Calibri" pitchFamily="34" charset="-120"/>
              </a:rPr>
              <a:t>The STRIDE framework exists but translating it into specific, actionable threats requires years of expertise.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0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63946"/>
          </a:solidFill>
          <a:ln w="12700">
            <a:solidFill>
              <a:srgbClr val="E63946"/>
            </a:solidFill>
            <a:prstDash val="solid"/>
          </a:ln>
        </p:spPr>
      </p:sp>
      <p:sp>
        <p:nvSpPr>
          <p:cNvPr id="3" name="Text 1"/>
          <p:cNvSpPr/>
          <p:nvPr/>
        </p:nvSpPr>
        <p:spPr>
          <a:xfrm>
            <a:off x="457200" y="18288"/>
            <a:ext cx="8229600" cy="320040"/>
          </a:xfrm>
          <a:prstGeom prst="rect">
            <a:avLst/>
          </a:prstGeom>
          <a:noFill/>
          <a:ln/>
        </p:spPr>
        <p:txBody>
          <a:bodyPr wrap="square"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PROBLEM 3 OF 3</a:t>
            </a:r>
            <a:endParaRPr lang="en-US" sz="1100" dirty="0"/>
          </a:p>
        </p:txBody>
      </p:sp>
      <p:sp>
        <p:nvSpPr>
          <p:cNvPr id="4" name="Text 2"/>
          <p:cNvSpPr/>
          <p:nvPr/>
        </p:nvSpPr>
        <p:spPr>
          <a:xfrm>
            <a:off x="457200" y="320040"/>
            <a:ext cx="822960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Fragmented &amp; Unstructured Information Across Documents</a:t>
            </a:r>
            <a:endParaRPr lang="en-US" sz="2200" dirty="0"/>
          </a:p>
        </p:txBody>
      </p:sp>
      <p:sp>
        <p:nvSpPr>
          <p:cNvPr id="5" name="Text 3"/>
          <p:cNvSpPr/>
          <p:nvPr/>
        </p:nvSpPr>
        <p:spPr>
          <a:xfrm>
            <a:off x="457200" y="1143000"/>
            <a:ext cx="8229600" cy="365760"/>
          </a:xfrm>
          <a:prstGeom prst="rect">
            <a:avLst/>
          </a:prstGeom>
          <a:noFill/>
          <a:ln/>
        </p:spPr>
        <p:txBody>
          <a:bodyPr wrap="square" rtlCol="0" anchor="ctr"/>
          <a:lstStyle/>
          <a:p>
            <a:pPr indent="0" marL="0">
              <a:buNone/>
            </a:pPr>
            <a:r>
              <a:rPr lang="en-US" sz="1400" dirty="0">
                <a:solidFill>
                  <a:srgbClr val="00B4D8"/>
                </a:solidFill>
                <a:latin typeface="Calibri" pitchFamily="34" charset="0"/>
                <a:ea typeface="Calibri" pitchFamily="34" charset="-122"/>
                <a:cs typeface="Calibri" pitchFamily="34" charset="-120"/>
              </a:rPr>
              <a:t>Information about a product's design is scattered across:</a:t>
            </a:r>
            <a:endParaRPr lang="en-US" sz="1400" dirty="0"/>
          </a:p>
        </p:txBody>
      </p:sp>
      <p:sp>
        <p:nvSpPr>
          <p:cNvPr id="6" name="Shape 4"/>
          <p:cNvSpPr/>
          <p:nvPr/>
        </p:nvSpPr>
        <p:spPr>
          <a:xfrm>
            <a:off x="365760" y="16459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548640" y="1783080"/>
            <a:ext cx="411480" cy="411480"/>
          </a:xfrm>
          <a:prstGeom prst="rect">
            <a:avLst/>
          </a:prstGeom>
        </p:spPr>
      </p:pic>
      <p:sp>
        <p:nvSpPr>
          <p:cNvPr id="8" name="Text 5"/>
          <p:cNvSpPr/>
          <p:nvPr/>
        </p:nvSpPr>
        <p:spPr>
          <a:xfrm>
            <a:off x="1051560" y="17556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Architecture diagrams (PDFs with figures &amp; tables)</a:t>
            </a:r>
            <a:endParaRPr lang="en-US" sz="1100" dirty="0"/>
          </a:p>
        </p:txBody>
      </p:sp>
      <p:sp>
        <p:nvSpPr>
          <p:cNvPr id="9" name="Shape 6"/>
          <p:cNvSpPr/>
          <p:nvPr/>
        </p:nvSpPr>
        <p:spPr>
          <a:xfrm>
            <a:off x="365760" y="25603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548640" y="2697480"/>
            <a:ext cx="411480" cy="411480"/>
          </a:xfrm>
          <a:prstGeom prst="rect">
            <a:avLst/>
          </a:prstGeom>
        </p:spPr>
      </p:pic>
      <p:sp>
        <p:nvSpPr>
          <p:cNvPr id="11" name="Text 7"/>
          <p:cNvSpPr/>
          <p:nvPr/>
        </p:nvSpPr>
        <p:spPr>
          <a:xfrm>
            <a:off x="1051560" y="26700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Design specification documents (60+ pages each)</a:t>
            </a:r>
            <a:endParaRPr lang="en-US" sz="1100" dirty="0"/>
          </a:p>
        </p:txBody>
      </p:sp>
      <p:sp>
        <p:nvSpPr>
          <p:cNvPr id="12" name="Shape 8"/>
          <p:cNvSpPr/>
          <p:nvPr/>
        </p:nvSpPr>
        <p:spPr>
          <a:xfrm>
            <a:off x="365760" y="34747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548640" y="3611880"/>
            <a:ext cx="411480" cy="411480"/>
          </a:xfrm>
          <a:prstGeom prst="rect">
            <a:avLst/>
          </a:prstGeom>
        </p:spPr>
      </p:pic>
      <p:sp>
        <p:nvSpPr>
          <p:cNvPr id="14" name="Text 9"/>
          <p:cNvSpPr/>
          <p:nvPr/>
        </p:nvSpPr>
        <p:spPr>
          <a:xfrm>
            <a:off x="1051560" y="35844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Security requirements from multiple teams</a:t>
            </a:r>
            <a:endParaRPr lang="en-US" sz="1100" dirty="0"/>
          </a:p>
        </p:txBody>
      </p:sp>
      <p:sp>
        <p:nvSpPr>
          <p:cNvPr id="15" name="Shape 10"/>
          <p:cNvSpPr/>
          <p:nvPr/>
        </p:nvSpPr>
        <p:spPr>
          <a:xfrm>
            <a:off x="4754880" y="16459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4937760" y="1783080"/>
            <a:ext cx="411480" cy="411480"/>
          </a:xfrm>
          <a:prstGeom prst="rect">
            <a:avLst/>
          </a:prstGeom>
        </p:spPr>
      </p:pic>
      <p:sp>
        <p:nvSpPr>
          <p:cNvPr id="17" name="Text 11"/>
          <p:cNvSpPr/>
          <p:nvPr/>
        </p:nvSpPr>
        <p:spPr>
          <a:xfrm>
            <a:off x="5440680" y="17556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Third-party component documentation</a:t>
            </a:r>
            <a:endParaRPr lang="en-US" sz="1100" dirty="0"/>
          </a:p>
        </p:txBody>
      </p:sp>
      <p:sp>
        <p:nvSpPr>
          <p:cNvPr id="18" name="Shape 12"/>
          <p:cNvSpPr/>
          <p:nvPr/>
        </p:nvSpPr>
        <p:spPr>
          <a:xfrm>
            <a:off x="4754880" y="25603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19" name="Image 4" descr="preencoded.png">    </p:cNvPr>
          <p:cNvPicPr>
            <a:picLocks noChangeAspect="1"/>
          </p:cNvPicPr>
          <p:nvPr/>
        </p:nvPicPr>
        <p:blipFill>
          <a:blip r:embed="rId5"/>
          <a:stretch>
            <a:fillRect/>
          </a:stretch>
        </p:blipFill>
        <p:spPr>
          <a:xfrm>
            <a:off x="4937760" y="2697480"/>
            <a:ext cx="411480" cy="411480"/>
          </a:xfrm>
          <a:prstGeom prst="rect">
            <a:avLst/>
          </a:prstGeom>
        </p:spPr>
      </p:pic>
      <p:sp>
        <p:nvSpPr>
          <p:cNvPr id="20" name="Text 13"/>
          <p:cNvSpPr/>
          <p:nvPr/>
        </p:nvSpPr>
        <p:spPr>
          <a:xfrm>
            <a:off x="5440680" y="26700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Regulatory and compliance standards</a:t>
            </a:r>
            <a:endParaRPr lang="en-US" sz="1100" dirty="0"/>
          </a:p>
        </p:txBody>
      </p:sp>
      <p:sp>
        <p:nvSpPr>
          <p:cNvPr id="21" name="Shape 14"/>
          <p:cNvSpPr/>
          <p:nvPr/>
        </p:nvSpPr>
        <p:spPr>
          <a:xfrm>
            <a:off x="4754880" y="3474720"/>
            <a:ext cx="4114800" cy="749808"/>
          </a:xfrm>
          <a:prstGeom prst="roundRect">
            <a:avLst>
              <a:gd name="adj" fmla="val 14634"/>
            </a:avLst>
          </a:prstGeom>
          <a:solidFill>
            <a:srgbClr val="0A1A0A"/>
          </a:solidFill>
          <a:ln w="12700">
            <a:solidFill>
              <a:srgbClr val="E2E8F0"/>
            </a:solidFill>
            <a:prstDash val="solid"/>
          </a:ln>
          <a:effectLst>
            <a:outerShdw sx="100000" sy="100000" kx="0" ky="0" algn="bl" rotWithShape="0" blurRad="101600" dist="38100" dir="2700000">
              <a:srgbClr val="000000">
                <a:alpha val="12000"/>
              </a:srgbClr>
            </a:outerShdw>
          </a:effectLst>
        </p:spPr>
      </p:sp>
      <p:pic>
        <p:nvPicPr>
          <p:cNvPr id="22" name="Image 5" descr="preencoded.png">    </p:cNvPr>
          <p:cNvPicPr>
            <a:picLocks noChangeAspect="1"/>
          </p:cNvPicPr>
          <p:nvPr/>
        </p:nvPicPr>
        <p:blipFill>
          <a:blip r:embed="rId6"/>
          <a:stretch>
            <a:fillRect/>
          </a:stretch>
        </p:blipFill>
        <p:spPr>
          <a:xfrm>
            <a:off x="4937760" y="3611880"/>
            <a:ext cx="411480" cy="411480"/>
          </a:xfrm>
          <a:prstGeom prst="rect">
            <a:avLst/>
          </a:prstGeom>
        </p:spPr>
      </p:pic>
      <p:sp>
        <p:nvSpPr>
          <p:cNvPr id="23" name="Text 15"/>
          <p:cNvSpPr/>
          <p:nvPr/>
        </p:nvSpPr>
        <p:spPr>
          <a:xfrm>
            <a:off x="5440680" y="3584448"/>
            <a:ext cx="3200400" cy="502920"/>
          </a:xfrm>
          <a:prstGeom prst="rect">
            <a:avLst/>
          </a:prstGeom>
          <a:noFill/>
          <a:ln/>
        </p:spPr>
        <p:txBody>
          <a:bodyPr wrap="square" rtlCol="0" anchor="ctr"/>
          <a:lstStyle/>
          <a:p>
            <a:pPr indent="0" marL="0">
              <a:buNone/>
            </a:pPr>
            <a:r>
              <a:rPr lang="en-US" sz="1100" dirty="0">
                <a:solidFill>
                  <a:srgbClr val="CCDDCC"/>
                </a:solidFill>
                <a:latin typeface="Calibri" pitchFamily="34" charset="0"/>
                <a:ea typeface="Calibri" pitchFamily="34" charset="-122"/>
                <a:cs typeface="Calibri" pitchFamily="34" charset="-120"/>
              </a:rPr>
              <a:t>CVE databases and vulnerability bulletins</a:t>
            </a:r>
            <a:endParaRPr lang="en-US" sz="1100" dirty="0"/>
          </a:p>
        </p:txBody>
      </p:sp>
      <p:sp>
        <p:nvSpPr>
          <p:cNvPr id="24" name="Text 16"/>
          <p:cNvSpPr/>
          <p:nvPr/>
        </p:nvSpPr>
        <p:spPr>
          <a:xfrm>
            <a:off x="365760" y="4645152"/>
            <a:ext cx="8412480" cy="365760"/>
          </a:xfrm>
          <a:prstGeom prst="rect">
            <a:avLst/>
          </a:prstGeom>
          <a:noFill/>
          <a:ln/>
        </p:spPr>
        <p:txBody>
          <a:bodyPr wrap="square" rtlCol="0" anchor="ctr"/>
          <a:lstStyle/>
          <a:p>
            <a:pPr indent="0" marL="0">
              <a:buNone/>
            </a:pPr>
            <a:r>
              <a:rPr lang="en-US" sz="1100" i="1" dirty="0">
                <a:solidFill>
                  <a:srgbClr val="88AA88"/>
                </a:solidFill>
                <a:latin typeface="Calibri" pitchFamily="34" charset="0"/>
                <a:ea typeface="Calibri" pitchFamily="34" charset="-122"/>
                <a:cs typeface="Calibri" pitchFamily="34" charset="-120"/>
              </a:rPr>
              <a:t>Traditional tools (e.g. Microsoft Threat Modeling Tool, 2014) struggle with unstructured, multi-doc inputs and IoT/cloud systems.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Paper's Proposed Solution</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LLM-based Threat Modeling System</a:t>
            </a:r>
            <a:endParaRPr lang="en-US" sz="1800" dirty="0"/>
          </a:p>
        </p:txBody>
      </p:sp>
      <p:sp>
        <p:nvSpPr>
          <p:cNvPr id="5" name="Text 3"/>
          <p:cNvSpPr/>
          <p:nvPr/>
        </p:nvSpPr>
        <p:spPr>
          <a:xfrm>
            <a:off x="457200" y="1234440"/>
            <a:ext cx="8229600" cy="3657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 paper proposes an automated threat modeling pipeline combining NLP + LLM + RAG:</a:t>
            </a:r>
            <a:endParaRPr lang="en-US" sz="1300" dirty="0"/>
          </a:p>
        </p:txBody>
      </p:sp>
      <p:sp>
        <p:nvSpPr>
          <p:cNvPr id="6" name="Shape 4"/>
          <p:cNvSpPr/>
          <p:nvPr/>
        </p:nvSpPr>
        <p:spPr>
          <a:xfrm>
            <a:off x="365760" y="1691640"/>
            <a:ext cx="1920240" cy="1463040"/>
          </a:xfrm>
          <a:prstGeom prst="roundRect">
            <a:avLst>
              <a:gd name="adj" fmla="val 75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960120" y="1810512"/>
            <a:ext cx="731520" cy="731520"/>
          </a:xfrm>
          <a:prstGeom prst="ellipse">
            <a:avLst/>
          </a:prstGeom>
          <a:solidFill>
            <a:srgbClr val="00B4D8"/>
          </a:solidFill>
          <a:ln w="12700">
            <a:solidFill>
              <a:srgbClr val="00B4D8"/>
            </a:solidFill>
            <a:prstDash val="solid"/>
          </a:ln>
        </p:spPr>
      </p:sp>
      <p:sp>
        <p:nvSpPr>
          <p:cNvPr id="8" name="Text 6"/>
          <p:cNvSpPr/>
          <p:nvPr/>
        </p:nvSpPr>
        <p:spPr>
          <a:xfrm>
            <a:off x="960120" y="1810512"/>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457200" y="2633472"/>
            <a:ext cx="1737360" cy="347472"/>
          </a:xfrm>
          <a:prstGeom prst="rect">
            <a:avLst/>
          </a:prstGeom>
          <a:noFill/>
          <a:ln/>
        </p:spPr>
        <p:txBody>
          <a:bodyPr wrap="square"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Input</a:t>
            </a:r>
            <a:endParaRPr lang="en-US" sz="1200" dirty="0"/>
          </a:p>
          <a:p>
            <a:pPr algn="ctr" indent="0" marL="0">
              <a:buNone/>
            </a:pPr>
            <a:r>
              <a:rPr lang="en-US" sz="1200" b="1" dirty="0">
                <a:solidFill>
                  <a:srgbClr val="1A1A2E"/>
                </a:solidFill>
                <a:latin typeface="Calibri" pitchFamily="34" charset="0"/>
                <a:ea typeface="Calibri" pitchFamily="34" charset="-122"/>
                <a:cs typeface="Calibri" pitchFamily="34" charset="-120"/>
              </a:rPr>
              <a:t>Documents</a:t>
            </a:r>
            <a:endParaRPr lang="en-US" sz="1200" dirty="0"/>
          </a:p>
        </p:txBody>
      </p:sp>
      <p:sp>
        <p:nvSpPr>
          <p:cNvPr id="10" name="Text 8"/>
          <p:cNvSpPr/>
          <p:nvPr/>
        </p:nvSpPr>
        <p:spPr>
          <a:xfrm>
            <a:off x="411480" y="2999232"/>
            <a:ext cx="182880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PDF design docs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&amp; NVD CVEs</a:t>
            </a:r>
            <a:endParaRPr lang="en-US" sz="950" dirty="0"/>
          </a:p>
        </p:txBody>
      </p:sp>
      <p:sp>
        <p:nvSpPr>
          <p:cNvPr id="11" name="Text 9"/>
          <p:cNvSpPr/>
          <p:nvPr/>
        </p:nvSpPr>
        <p:spPr>
          <a:xfrm>
            <a:off x="2286000" y="2194560"/>
            <a:ext cx="274320" cy="457200"/>
          </a:xfrm>
          <a:prstGeom prst="rect">
            <a:avLst/>
          </a:prstGeom>
          <a:noFill/>
          <a:ln/>
        </p:spPr>
        <p:txBody>
          <a:bodyPr wrap="square" lIns="0" tIns="0" rIns="0" bIns="0"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2560320" y="1691640"/>
            <a:ext cx="1920240" cy="1463040"/>
          </a:xfrm>
          <a:prstGeom prst="roundRect">
            <a:avLst>
              <a:gd name="adj" fmla="val 75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3154680" y="1810512"/>
            <a:ext cx="731520" cy="731520"/>
          </a:xfrm>
          <a:prstGeom prst="ellipse">
            <a:avLst/>
          </a:prstGeom>
          <a:solidFill>
            <a:srgbClr val="FFB703"/>
          </a:solidFill>
          <a:ln w="12700">
            <a:solidFill>
              <a:srgbClr val="FFB703"/>
            </a:solidFill>
            <a:prstDash val="solid"/>
          </a:ln>
        </p:spPr>
      </p:sp>
      <p:sp>
        <p:nvSpPr>
          <p:cNvPr id="14" name="Text 12"/>
          <p:cNvSpPr/>
          <p:nvPr/>
        </p:nvSpPr>
        <p:spPr>
          <a:xfrm>
            <a:off x="3154680" y="1810512"/>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2651760" y="2633472"/>
            <a:ext cx="1737360" cy="347472"/>
          </a:xfrm>
          <a:prstGeom prst="rect">
            <a:avLst/>
          </a:prstGeom>
          <a:noFill/>
          <a:ln/>
        </p:spPr>
        <p:txBody>
          <a:bodyPr wrap="square"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1A1A2E"/>
                </a:solidFill>
                <a:latin typeface="Calibri" pitchFamily="34" charset="0"/>
                <a:ea typeface="Calibri" pitchFamily="34" charset="-122"/>
                <a:cs typeface="Calibri" pitchFamily="34" charset="-120"/>
              </a:rPr>
              <a:t>Processing</a:t>
            </a:r>
            <a:endParaRPr lang="en-US" sz="1200" dirty="0"/>
          </a:p>
        </p:txBody>
      </p:sp>
      <p:sp>
        <p:nvSpPr>
          <p:cNvPr id="16" name="Text 14"/>
          <p:cNvSpPr/>
          <p:nvPr/>
        </p:nvSpPr>
        <p:spPr>
          <a:xfrm>
            <a:off x="2606040" y="2999232"/>
            <a:ext cx="182880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KeyBERT keyword</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extraction + NLP</a:t>
            </a:r>
            <a:endParaRPr lang="en-US" sz="950" dirty="0"/>
          </a:p>
        </p:txBody>
      </p:sp>
      <p:sp>
        <p:nvSpPr>
          <p:cNvPr id="17" name="Text 15"/>
          <p:cNvSpPr/>
          <p:nvPr/>
        </p:nvSpPr>
        <p:spPr>
          <a:xfrm>
            <a:off x="4480560" y="2194560"/>
            <a:ext cx="274320" cy="457200"/>
          </a:xfrm>
          <a:prstGeom prst="rect">
            <a:avLst/>
          </a:prstGeom>
          <a:noFill/>
          <a:ln/>
        </p:spPr>
        <p:txBody>
          <a:bodyPr wrap="square" lIns="0" tIns="0" rIns="0" bIns="0"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754880" y="1691640"/>
            <a:ext cx="1920240" cy="1463040"/>
          </a:xfrm>
          <a:prstGeom prst="roundRect">
            <a:avLst>
              <a:gd name="adj" fmla="val 75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5349240" y="1810512"/>
            <a:ext cx="731520" cy="731520"/>
          </a:xfrm>
          <a:prstGeom prst="ellipse">
            <a:avLst/>
          </a:prstGeom>
          <a:solidFill>
            <a:srgbClr val="2DC653"/>
          </a:solidFill>
          <a:ln w="12700">
            <a:solidFill>
              <a:srgbClr val="2DC653"/>
            </a:solidFill>
            <a:prstDash val="solid"/>
          </a:ln>
        </p:spPr>
      </p:sp>
      <p:sp>
        <p:nvSpPr>
          <p:cNvPr id="20" name="Text 18"/>
          <p:cNvSpPr/>
          <p:nvPr/>
        </p:nvSpPr>
        <p:spPr>
          <a:xfrm>
            <a:off x="5349240" y="1810512"/>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4846320" y="2633472"/>
            <a:ext cx="1737360" cy="347472"/>
          </a:xfrm>
          <a:prstGeom prst="rect">
            <a:avLst/>
          </a:prstGeom>
          <a:noFill/>
          <a:ln/>
        </p:spPr>
        <p:txBody>
          <a:bodyPr wrap="square"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Vector</a:t>
            </a:r>
            <a:endParaRPr lang="en-US" sz="1200" dirty="0"/>
          </a:p>
          <a:p>
            <a:pPr algn="ctr" indent="0" marL="0">
              <a:buNone/>
            </a:pPr>
            <a:r>
              <a:rPr lang="en-US" sz="1200" b="1" dirty="0">
                <a:solidFill>
                  <a:srgbClr val="1A1A2E"/>
                </a:solidFill>
                <a:latin typeface="Calibri" pitchFamily="34" charset="0"/>
                <a:ea typeface="Calibri" pitchFamily="34" charset="-122"/>
                <a:cs typeface="Calibri" pitchFamily="34" charset="-120"/>
              </a:rPr>
              <a:t>Database</a:t>
            </a:r>
            <a:endParaRPr lang="en-US" sz="1200" dirty="0"/>
          </a:p>
        </p:txBody>
      </p:sp>
      <p:sp>
        <p:nvSpPr>
          <p:cNvPr id="22" name="Text 20"/>
          <p:cNvSpPr/>
          <p:nvPr/>
        </p:nvSpPr>
        <p:spPr>
          <a:xfrm>
            <a:off x="4800600" y="2999232"/>
            <a:ext cx="182880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Pinecone index</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with embeddings</a:t>
            </a:r>
            <a:endParaRPr lang="en-US" sz="950" dirty="0"/>
          </a:p>
        </p:txBody>
      </p:sp>
      <p:sp>
        <p:nvSpPr>
          <p:cNvPr id="23" name="Text 21"/>
          <p:cNvSpPr/>
          <p:nvPr/>
        </p:nvSpPr>
        <p:spPr>
          <a:xfrm>
            <a:off x="6675120" y="2194560"/>
            <a:ext cx="274320" cy="457200"/>
          </a:xfrm>
          <a:prstGeom prst="rect">
            <a:avLst/>
          </a:prstGeom>
          <a:noFill/>
          <a:ln/>
        </p:spPr>
        <p:txBody>
          <a:bodyPr wrap="square" lIns="0" tIns="0" rIns="0" bIns="0"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949440" y="1691640"/>
            <a:ext cx="1920240" cy="1463040"/>
          </a:xfrm>
          <a:prstGeom prst="roundRect">
            <a:avLst>
              <a:gd name="adj" fmla="val 75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7543800" y="1810512"/>
            <a:ext cx="731520" cy="731520"/>
          </a:xfrm>
          <a:prstGeom prst="ellipse">
            <a:avLst/>
          </a:prstGeom>
          <a:solidFill>
            <a:srgbClr val="0096C7"/>
          </a:solidFill>
          <a:ln w="12700">
            <a:solidFill>
              <a:srgbClr val="0096C7"/>
            </a:solidFill>
            <a:prstDash val="solid"/>
          </a:ln>
        </p:spPr>
      </p:sp>
      <p:sp>
        <p:nvSpPr>
          <p:cNvPr id="26" name="Text 24"/>
          <p:cNvSpPr/>
          <p:nvPr/>
        </p:nvSpPr>
        <p:spPr>
          <a:xfrm>
            <a:off x="7543800" y="1810512"/>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5"/>
          <p:cNvSpPr/>
          <p:nvPr/>
        </p:nvSpPr>
        <p:spPr>
          <a:xfrm>
            <a:off x="7040880" y="2633472"/>
            <a:ext cx="1737360" cy="347472"/>
          </a:xfrm>
          <a:prstGeom prst="rect">
            <a:avLst/>
          </a:prstGeom>
          <a:noFill/>
          <a:ln/>
        </p:spPr>
        <p:txBody>
          <a:bodyPr wrap="square"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LLM</a:t>
            </a:r>
            <a:endParaRPr lang="en-US" sz="1200" dirty="0"/>
          </a:p>
          <a:p>
            <a:pPr algn="ctr" indent="0" marL="0">
              <a:buNone/>
            </a:pPr>
            <a:r>
              <a:rPr lang="en-US" sz="1200" b="1" dirty="0">
                <a:solidFill>
                  <a:srgbClr val="1A1A2E"/>
                </a:solidFill>
                <a:latin typeface="Calibri" pitchFamily="34" charset="0"/>
                <a:ea typeface="Calibri" pitchFamily="34" charset="-122"/>
                <a:cs typeface="Calibri" pitchFamily="34" charset="-120"/>
              </a:rPr>
              <a:t>Query</a:t>
            </a:r>
            <a:endParaRPr lang="en-US" sz="1200" dirty="0"/>
          </a:p>
        </p:txBody>
      </p:sp>
      <p:sp>
        <p:nvSpPr>
          <p:cNvPr id="28" name="Text 26"/>
          <p:cNvSpPr/>
          <p:nvPr/>
        </p:nvSpPr>
        <p:spPr>
          <a:xfrm>
            <a:off x="6995160" y="2999232"/>
            <a:ext cx="182880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Llama 2 answers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threat model Qs</a:t>
            </a:r>
            <a:endParaRPr lang="en-US" sz="950" dirty="0"/>
          </a:p>
        </p:txBody>
      </p:sp>
      <p:sp>
        <p:nvSpPr>
          <p:cNvPr id="29" name="Shape 27"/>
          <p:cNvSpPr/>
          <p:nvPr/>
        </p:nvSpPr>
        <p:spPr>
          <a:xfrm>
            <a:off x="365760" y="3749040"/>
            <a:ext cx="914400" cy="365760"/>
          </a:xfrm>
          <a:prstGeom prst="roundRect">
            <a:avLst>
              <a:gd name="adj" fmla="val 20000"/>
            </a:avLst>
          </a:prstGeom>
          <a:solidFill>
            <a:srgbClr val="00B4D8"/>
          </a:solidFill>
          <a:ln w="12700">
            <a:solidFill>
              <a:srgbClr val="00B4D8"/>
            </a:solidFill>
            <a:prstDash val="solid"/>
          </a:ln>
        </p:spPr>
      </p:sp>
      <p:sp>
        <p:nvSpPr>
          <p:cNvPr id="30" name="Text 28"/>
          <p:cNvSpPr/>
          <p:nvPr/>
        </p:nvSpPr>
        <p:spPr>
          <a:xfrm>
            <a:off x="365760" y="3749040"/>
            <a:ext cx="9144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p>
        </p:txBody>
      </p:sp>
      <p:sp>
        <p:nvSpPr>
          <p:cNvPr id="31" name="Text 29"/>
          <p:cNvSpPr/>
          <p:nvPr/>
        </p:nvSpPr>
        <p:spPr>
          <a:xfrm>
            <a:off x="1417320" y="3767328"/>
            <a:ext cx="1280160" cy="34747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Large Language Model: </a:t>
            </a:r>
            <a:endParaRPr lang="en-US" sz="1000" dirty="0"/>
          </a:p>
        </p:txBody>
      </p:sp>
      <p:sp>
        <p:nvSpPr>
          <p:cNvPr id="32" name="Text 30"/>
          <p:cNvSpPr/>
          <p:nvPr/>
        </p:nvSpPr>
        <p:spPr>
          <a:xfrm>
            <a:off x="2651760" y="3767328"/>
            <a:ext cx="621792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Llama 2 (7B &amp; 13B chat) — Meta's open-source model fine-tuned for dialogue, runs on Google Colab T4 GPU</a:t>
            </a:r>
            <a:endParaRPr lang="en-US" sz="1000" dirty="0"/>
          </a:p>
        </p:txBody>
      </p:sp>
      <p:sp>
        <p:nvSpPr>
          <p:cNvPr id="33" name="Shape 31"/>
          <p:cNvSpPr/>
          <p:nvPr/>
        </p:nvSpPr>
        <p:spPr>
          <a:xfrm>
            <a:off x="365760" y="4206240"/>
            <a:ext cx="914400" cy="365760"/>
          </a:xfrm>
          <a:prstGeom prst="roundRect">
            <a:avLst>
              <a:gd name="adj" fmla="val 20000"/>
            </a:avLst>
          </a:prstGeom>
          <a:solidFill>
            <a:srgbClr val="00B4D8"/>
          </a:solidFill>
          <a:ln w="12700">
            <a:solidFill>
              <a:srgbClr val="00B4D8"/>
            </a:solidFill>
            <a:prstDash val="solid"/>
          </a:ln>
        </p:spPr>
      </p:sp>
      <p:sp>
        <p:nvSpPr>
          <p:cNvPr id="34" name="Text 32"/>
          <p:cNvSpPr/>
          <p:nvPr/>
        </p:nvSpPr>
        <p:spPr>
          <a:xfrm>
            <a:off x="365760" y="4206240"/>
            <a:ext cx="9144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RAG</a:t>
            </a:r>
            <a:endParaRPr lang="en-US" sz="1200" dirty="0"/>
          </a:p>
        </p:txBody>
      </p:sp>
      <p:sp>
        <p:nvSpPr>
          <p:cNvPr id="35" name="Text 33"/>
          <p:cNvSpPr/>
          <p:nvPr/>
        </p:nvSpPr>
        <p:spPr>
          <a:xfrm>
            <a:off x="1417320" y="4224528"/>
            <a:ext cx="1280160" cy="34747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Retrieval-Augmented Generation: </a:t>
            </a:r>
            <a:endParaRPr lang="en-US" sz="1000" dirty="0"/>
          </a:p>
        </p:txBody>
      </p:sp>
      <p:sp>
        <p:nvSpPr>
          <p:cNvPr id="36" name="Text 34"/>
          <p:cNvSpPr/>
          <p:nvPr/>
        </p:nvSpPr>
        <p:spPr>
          <a:xfrm>
            <a:off x="2651760" y="4224528"/>
            <a:ext cx="621792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Enhances LLM with external knowledge; retriever fetches relevant CVE/doc chunks before generating answers</a:t>
            </a:r>
            <a:endParaRPr lang="en-US" sz="1000" dirty="0"/>
          </a:p>
        </p:txBody>
      </p:sp>
      <p:sp>
        <p:nvSpPr>
          <p:cNvPr id="37" name="Shape 35"/>
          <p:cNvSpPr/>
          <p:nvPr/>
        </p:nvSpPr>
        <p:spPr>
          <a:xfrm>
            <a:off x="365760" y="4663440"/>
            <a:ext cx="914400" cy="365760"/>
          </a:xfrm>
          <a:prstGeom prst="roundRect">
            <a:avLst>
              <a:gd name="adj" fmla="val 20000"/>
            </a:avLst>
          </a:prstGeom>
          <a:solidFill>
            <a:srgbClr val="00B4D8"/>
          </a:solidFill>
          <a:ln w="12700">
            <a:solidFill>
              <a:srgbClr val="00B4D8"/>
            </a:solidFill>
            <a:prstDash val="solid"/>
          </a:ln>
        </p:spPr>
      </p:sp>
      <p:sp>
        <p:nvSpPr>
          <p:cNvPr id="38" name="Text 36"/>
          <p:cNvSpPr/>
          <p:nvPr/>
        </p:nvSpPr>
        <p:spPr>
          <a:xfrm>
            <a:off x="365760" y="4663440"/>
            <a:ext cx="9144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39" name="Text 37"/>
          <p:cNvSpPr/>
          <p:nvPr/>
        </p:nvSpPr>
        <p:spPr>
          <a:xfrm>
            <a:off x="1417320" y="4681728"/>
            <a:ext cx="1280160" cy="34747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Natural Language Processing: </a:t>
            </a:r>
            <a:endParaRPr lang="en-US" sz="1000" dirty="0"/>
          </a:p>
        </p:txBody>
      </p:sp>
      <p:sp>
        <p:nvSpPr>
          <p:cNvPr id="40" name="Text 38"/>
          <p:cNvSpPr/>
          <p:nvPr/>
        </p:nvSpPr>
        <p:spPr>
          <a:xfrm>
            <a:off x="2651760" y="4681728"/>
            <a:ext cx="621792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KeyBERT extracts keywords using BERT embeddings + cosine similarity; NLTK removes stopwords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Task 1: System Understanding (MQ1)</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What are we working on?</a:t>
            </a:r>
            <a:endParaRPr lang="en-US" sz="1800" dirty="0"/>
          </a:p>
        </p:txBody>
      </p:sp>
      <p:sp>
        <p:nvSpPr>
          <p:cNvPr id="5" name="Text 3"/>
          <p:cNvSpPr/>
          <p:nvPr/>
        </p:nvSpPr>
        <p:spPr>
          <a:xfrm>
            <a:off x="457200" y="1234440"/>
            <a:ext cx="8229600" cy="365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Task 1 processes design document PDFs to answer system understanding questions.</a:t>
            </a:r>
            <a:endParaRPr lang="en-US" sz="1200" dirty="0"/>
          </a:p>
        </p:txBody>
      </p:sp>
      <p:sp>
        <p:nvSpPr>
          <p:cNvPr id="6" name="Shape 4"/>
          <p:cNvSpPr/>
          <p:nvPr/>
        </p:nvSpPr>
        <p:spPr>
          <a:xfrm>
            <a:off x="365760" y="1691640"/>
            <a:ext cx="8412480" cy="685800"/>
          </a:xfrm>
          <a:prstGeom prst="roundRect">
            <a:avLst>
              <a:gd name="adj" fmla="val 16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57200" y="1783080"/>
            <a:ext cx="502920" cy="502920"/>
          </a:xfrm>
          <a:prstGeom prst="ellipse">
            <a:avLst/>
          </a:prstGeom>
          <a:solidFill>
            <a:srgbClr val="00B4D8"/>
          </a:solidFill>
          <a:ln w="12700">
            <a:solidFill>
              <a:srgbClr val="00B4D8"/>
            </a:solidFill>
            <a:prstDash val="solid"/>
          </a:ln>
        </p:spPr>
      </p:sp>
      <p:sp>
        <p:nvSpPr>
          <p:cNvPr id="8" name="Text 6"/>
          <p:cNvSpPr/>
          <p:nvPr/>
        </p:nvSpPr>
        <p:spPr>
          <a:xfrm>
            <a:off x="457200" y="17830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97280" y="1737360"/>
            <a:ext cx="7132320"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Step 1-1: Load &amp; Extract Text</a:t>
            </a:r>
            <a:endParaRPr lang="en-US" sz="1200" dirty="0"/>
          </a:p>
        </p:txBody>
      </p:sp>
      <p:sp>
        <p:nvSpPr>
          <p:cNvPr id="10" name="Text 8"/>
          <p:cNvSpPr/>
          <p:nvPr/>
        </p:nvSpPr>
        <p:spPr>
          <a:xfrm>
            <a:off x="1097280" y="2039112"/>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PDF loaded via LangChain; text split into 500-char chunks with 20-char overlap using RecursiveCharacterTextSplitter</a:t>
            </a:r>
            <a:endParaRPr lang="en-US" sz="1000" dirty="0"/>
          </a:p>
        </p:txBody>
      </p:sp>
      <p:sp>
        <p:nvSpPr>
          <p:cNvPr id="11" name="Shape 9"/>
          <p:cNvSpPr/>
          <p:nvPr/>
        </p:nvSpPr>
        <p:spPr>
          <a:xfrm>
            <a:off x="365760" y="2496312"/>
            <a:ext cx="8412480" cy="685800"/>
          </a:xfrm>
          <a:prstGeom prst="roundRect">
            <a:avLst>
              <a:gd name="adj" fmla="val 16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57200" y="2587752"/>
            <a:ext cx="502920" cy="502920"/>
          </a:xfrm>
          <a:prstGeom prst="ellipse">
            <a:avLst/>
          </a:prstGeom>
          <a:solidFill>
            <a:srgbClr val="00B4D8"/>
          </a:solidFill>
          <a:ln w="12700">
            <a:solidFill>
              <a:srgbClr val="00B4D8"/>
            </a:solidFill>
            <a:prstDash val="solid"/>
          </a:ln>
        </p:spPr>
      </p:sp>
      <p:sp>
        <p:nvSpPr>
          <p:cNvPr id="13" name="Text 11"/>
          <p:cNvSpPr/>
          <p:nvPr/>
        </p:nvSpPr>
        <p:spPr>
          <a:xfrm>
            <a:off x="457200" y="2587752"/>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097280" y="2542032"/>
            <a:ext cx="7132320"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Step 1-2: Create Embeddings</a:t>
            </a:r>
            <a:endParaRPr lang="en-US" sz="1200" dirty="0"/>
          </a:p>
        </p:txBody>
      </p:sp>
      <p:sp>
        <p:nvSpPr>
          <p:cNvPr id="15" name="Text 13"/>
          <p:cNvSpPr/>
          <p:nvPr/>
        </p:nvSpPr>
        <p:spPr>
          <a:xfrm>
            <a:off x="1097280" y="2843784"/>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Each text chunk is converted into a numerical vector (embedding) that captures its semantic meaning</a:t>
            </a:r>
            <a:endParaRPr lang="en-US" sz="1000" dirty="0"/>
          </a:p>
        </p:txBody>
      </p:sp>
      <p:sp>
        <p:nvSpPr>
          <p:cNvPr id="16" name="Shape 14"/>
          <p:cNvSpPr/>
          <p:nvPr/>
        </p:nvSpPr>
        <p:spPr>
          <a:xfrm>
            <a:off x="365760" y="3300984"/>
            <a:ext cx="8412480" cy="685800"/>
          </a:xfrm>
          <a:prstGeom prst="roundRect">
            <a:avLst>
              <a:gd name="adj" fmla="val 16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57200" y="3392424"/>
            <a:ext cx="502920" cy="502920"/>
          </a:xfrm>
          <a:prstGeom prst="ellipse">
            <a:avLst/>
          </a:prstGeom>
          <a:solidFill>
            <a:srgbClr val="00B4D8"/>
          </a:solidFill>
          <a:ln w="12700">
            <a:solidFill>
              <a:srgbClr val="00B4D8"/>
            </a:solidFill>
            <a:prstDash val="solid"/>
          </a:ln>
        </p:spPr>
      </p:sp>
      <p:sp>
        <p:nvSpPr>
          <p:cNvPr id="18" name="Text 16"/>
          <p:cNvSpPr/>
          <p:nvPr/>
        </p:nvSpPr>
        <p:spPr>
          <a:xfrm>
            <a:off x="457200" y="3392424"/>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097280" y="3346704"/>
            <a:ext cx="7132320"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Step 1-3: Create Pinecone Index</a:t>
            </a:r>
            <a:endParaRPr lang="en-US" sz="1200" dirty="0"/>
          </a:p>
        </p:txBody>
      </p:sp>
      <p:sp>
        <p:nvSpPr>
          <p:cNvPr id="20" name="Text 18"/>
          <p:cNvSpPr/>
          <p:nvPr/>
        </p:nvSpPr>
        <p:spPr>
          <a:xfrm>
            <a:off x="1097280" y="3648456"/>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Pinecone is a vector database; index = highest-level organizational unit for the stored embeddings</a:t>
            </a:r>
            <a:endParaRPr lang="en-US" sz="1000" dirty="0"/>
          </a:p>
        </p:txBody>
      </p:sp>
      <p:sp>
        <p:nvSpPr>
          <p:cNvPr id="21" name="Shape 19"/>
          <p:cNvSpPr/>
          <p:nvPr/>
        </p:nvSpPr>
        <p:spPr>
          <a:xfrm>
            <a:off x="365760" y="4105656"/>
            <a:ext cx="8412480" cy="685800"/>
          </a:xfrm>
          <a:prstGeom prst="roundRect">
            <a:avLst>
              <a:gd name="adj" fmla="val 16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457200" y="4197096"/>
            <a:ext cx="502920" cy="502920"/>
          </a:xfrm>
          <a:prstGeom prst="ellipse">
            <a:avLst/>
          </a:prstGeom>
          <a:solidFill>
            <a:srgbClr val="00B4D8"/>
          </a:solidFill>
          <a:ln w="12700">
            <a:solidFill>
              <a:srgbClr val="00B4D8"/>
            </a:solidFill>
            <a:prstDash val="solid"/>
          </a:ln>
        </p:spPr>
      </p:sp>
      <p:sp>
        <p:nvSpPr>
          <p:cNvPr id="23" name="Text 21"/>
          <p:cNvSpPr/>
          <p:nvPr/>
        </p:nvSpPr>
        <p:spPr>
          <a:xfrm>
            <a:off x="457200" y="4197096"/>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097280" y="4151376"/>
            <a:ext cx="7132320"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Step 1-4: Store in Pinecone DB</a:t>
            </a:r>
            <a:endParaRPr lang="en-US" sz="1200" dirty="0"/>
          </a:p>
        </p:txBody>
      </p:sp>
      <p:sp>
        <p:nvSpPr>
          <p:cNvPr id="25" name="Text 23"/>
          <p:cNvSpPr/>
          <p:nvPr/>
        </p:nvSpPr>
        <p:spPr>
          <a:xfrm>
            <a:off x="1097280" y="4453128"/>
            <a:ext cx="71323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Embedding vectors pushed to Pinecone for fast similarity search when answering LLM queries</a:t>
            </a:r>
            <a:endParaRPr lang="en-US" sz="1000" dirty="0"/>
          </a:p>
        </p:txBody>
      </p:sp>
      <p:sp>
        <p:nvSpPr>
          <p:cNvPr id="26" name="Text 24"/>
          <p:cNvSpPr/>
          <p:nvPr/>
        </p:nvSpPr>
        <p:spPr>
          <a:xfrm>
            <a:off x="365760" y="4937760"/>
            <a:ext cx="8412480" cy="347472"/>
          </a:xfrm>
          <a:prstGeom prst="rect">
            <a:avLst/>
          </a:prstGeom>
          <a:noFill/>
          <a:ln/>
        </p:spPr>
        <p:txBody>
          <a:bodyPr wrap="square" rtlCol="0" anchor="ctr"/>
          <a:lstStyle/>
          <a:p>
            <a:pPr indent="0" marL="0">
              <a:buNone/>
            </a:pPr>
            <a:r>
              <a:rPr lang="en-US" sz="1050" i="1" dirty="0">
                <a:solidFill>
                  <a:srgbClr val="0096C7"/>
                </a:solidFill>
                <a:latin typeface="Calibri" pitchFamily="34" charset="0"/>
                <a:ea typeface="Calibri" pitchFamily="34" charset="-122"/>
                <a:cs typeface="Calibri" pitchFamily="34" charset="-120"/>
              </a:rPr>
              <a:t>Sample questions: 'What components are involved in the design?' | 'How is data secured during transmission?' | 'How is the encrypted connection established?'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Task 2: Threat Identification (MQ2)</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What can go wrong?</a:t>
            </a:r>
            <a:endParaRPr lang="en-US" sz="1800" dirty="0"/>
          </a:p>
        </p:txBody>
      </p:sp>
      <p:sp>
        <p:nvSpPr>
          <p:cNvPr id="5" name="Shape 3"/>
          <p:cNvSpPr/>
          <p:nvPr/>
        </p:nvSpPr>
        <p:spPr>
          <a:xfrm>
            <a:off x="365760" y="1234440"/>
            <a:ext cx="8412480" cy="777240"/>
          </a:xfrm>
          <a:prstGeom prst="roundRect">
            <a:avLst>
              <a:gd name="adj" fmla="val 14118"/>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57200" y="1344168"/>
            <a:ext cx="530352" cy="530352"/>
          </a:xfrm>
          <a:prstGeom prst="ellipse">
            <a:avLst/>
          </a:prstGeom>
          <a:solidFill>
            <a:srgbClr val="FFB703"/>
          </a:solidFill>
          <a:ln w="12700">
            <a:solidFill>
              <a:srgbClr val="FFB703"/>
            </a:solidFill>
            <a:prstDash val="solid"/>
          </a:ln>
        </p:spPr>
      </p:sp>
      <p:sp>
        <p:nvSpPr>
          <p:cNvPr id="7" name="Text 5"/>
          <p:cNvSpPr/>
          <p:nvPr/>
        </p:nvSpPr>
        <p:spPr>
          <a:xfrm>
            <a:off x="457200" y="1344168"/>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280160"/>
            <a:ext cx="722376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Keyword Extraction (KeyBERT)</a:t>
            </a:r>
            <a:endParaRPr lang="en-US" sz="1200" dirty="0"/>
          </a:p>
        </p:txBody>
      </p:sp>
      <p:sp>
        <p:nvSpPr>
          <p:cNvPr id="9" name="Text 7"/>
          <p:cNvSpPr/>
          <p:nvPr/>
        </p:nvSpPr>
        <p:spPr>
          <a:xfrm>
            <a:off x="1143000" y="1618488"/>
            <a:ext cx="722376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BERT=Bidirectional Encoder Representations from Transformers. KeyBERT uses BERT embeddings + cosine similarity to extract top-15 keywords/key-phrases from PDF docs into a CSV</a:t>
            </a:r>
            <a:endParaRPr lang="en-US" sz="1000" dirty="0"/>
          </a:p>
        </p:txBody>
      </p:sp>
      <p:sp>
        <p:nvSpPr>
          <p:cNvPr id="10" name="Shape 8"/>
          <p:cNvSpPr/>
          <p:nvPr/>
        </p:nvSpPr>
        <p:spPr>
          <a:xfrm>
            <a:off x="365760" y="2130552"/>
            <a:ext cx="8412480" cy="777240"/>
          </a:xfrm>
          <a:prstGeom prst="roundRect">
            <a:avLst>
              <a:gd name="adj" fmla="val 14118"/>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57200" y="2240280"/>
            <a:ext cx="530352" cy="530352"/>
          </a:xfrm>
          <a:prstGeom prst="ellipse">
            <a:avLst/>
          </a:prstGeom>
          <a:solidFill>
            <a:srgbClr val="FFB703"/>
          </a:solidFill>
          <a:ln w="12700">
            <a:solidFill>
              <a:srgbClr val="FFB703"/>
            </a:solidFill>
            <a:prstDash val="solid"/>
          </a:ln>
        </p:spPr>
      </p:sp>
      <p:sp>
        <p:nvSpPr>
          <p:cNvPr id="12" name="Text 10"/>
          <p:cNvSpPr/>
          <p:nvPr/>
        </p:nvSpPr>
        <p:spPr>
          <a:xfrm>
            <a:off x="457200" y="2240280"/>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43000" y="2176272"/>
            <a:ext cx="722376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NVD API Query</a:t>
            </a:r>
            <a:endParaRPr lang="en-US" sz="1200" dirty="0"/>
          </a:p>
        </p:txBody>
      </p:sp>
      <p:sp>
        <p:nvSpPr>
          <p:cNvPr id="14" name="Text 12"/>
          <p:cNvSpPr/>
          <p:nvPr/>
        </p:nvSpPr>
        <p:spPr>
          <a:xfrm>
            <a:off x="1143000" y="2514600"/>
            <a:ext cx="722376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NVD=National Vulnerability Database. Keywords used to programmatically query NVD API; relevant CVE fields (ID, description, severity, CVSS score) extracted to CSV</a:t>
            </a:r>
            <a:endParaRPr lang="en-US" sz="1000" dirty="0"/>
          </a:p>
        </p:txBody>
      </p:sp>
      <p:sp>
        <p:nvSpPr>
          <p:cNvPr id="15" name="Shape 13"/>
          <p:cNvSpPr/>
          <p:nvPr/>
        </p:nvSpPr>
        <p:spPr>
          <a:xfrm>
            <a:off x="365760" y="3026664"/>
            <a:ext cx="8412480" cy="777240"/>
          </a:xfrm>
          <a:prstGeom prst="roundRect">
            <a:avLst>
              <a:gd name="adj" fmla="val 14118"/>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57200" y="3136392"/>
            <a:ext cx="530352" cy="530352"/>
          </a:xfrm>
          <a:prstGeom prst="ellipse">
            <a:avLst/>
          </a:prstGeom>
          <a:solidFill>
            <a:srgbClr val="FFB703"/>
          </a:solidFill>
          <a:ln w="12700">
            <a:solidFill>
              <a:srgbClr val="FFB703"/>
            </a:solidFill>
            <a:prstDash val="solid"/>
          </a:ln>
        </p:spPr>
      </p:sp>
      <p:sp>
        <p:nvSpPr>
          <p:cNvPr id="17" name="Text 15"/>
          <p:cNvSpPr/>
          <p:nvPr/>
        </p:nvSpPr>
        <p:spPr>
          <a:xfrm>
            <a:off x="457200" y="3136392"/>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43000" y="3072384"/>
            <a:ext cx="722376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Data Preprocessing</a:t>
            </a:r>
            <a:endParaRPr lang="en-US" sz="1200" dirty="0"/>
          </a:p>
        </p:txBody>
      </p:sp>
      <p:sp>
        <p:nvSpPr>
          <p:cNvPr id="19" name="Text 17"/>
          <p:cNvSpPr/>
          <p:nvPr/>
        </p:nvSpPr>
        <p:spPr>
          <a:xfrm>
            <a:off x="1143000" y="3410712"/>
            <a:ext cx="722376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Stopword removal (NLTK English + expert-defined security terms like 'attack', 'hacker'). Stemming to avoid duplicate search results</a:t>
            </a:r>
            <a:endParaRPr lang="en-US" sz="1000" dirty="0"/>
          </a:p>
        </p:txBody>
      </p:sp>
      <p:sp>
        <p:nvSpPr>
          <p:cNvPr id="20" name="Shape 18"/>
          <p:cNvSpPr/>
          <p:nvPr/>
        </p:nvSpPr>
        <p:spPr>
          <a:xfrm>
            <a:off x="365760" y="3922776"/>
            <a:ext cx="8412480" cy="777240"/>
          </a:xfrm>
          <a:prstGeom prst="roundRect">
            <a:avLst>
              <a:gd name="adj" fmla="val 14118"/>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57200" y="4032504"/>
            <a:ext cx="530352" cy="530352"/>
          </a:xfrm>
          <a:prstGeom prst="ellipse">
            <a:avLst/>
          </a:prstGeom>
          <a:solidFill>
            <a:srgbClr val="FFB703"/>
          </a:solidFill>
          <a:ln w="12700">
            <a:solidFill>
              <a:srgbClr val="FFB703"/>
            </a:solidFill>
            <a:prstDash val="solid"/>
          </a:ln>
        </p:spPr>
      </p:sp>
      <p:sp>
        <p:nvSpPr>
          <p:cNvPr id="22" name="Text 20"/>
          <p:cNvSpPr/>
          <p:nvPr/>
        </p:nvSpPr>
        <p:spPr>
          <a:xfrm>
            <a:off x="457200" y="4032504"/>
            <a:ext cx="53035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143000" y="3968496"/>
            <a:ext cx="722376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JSONL Knowledge Base</a:t>
            </a:r>
            <a:endParaRPr lang="en-US" sz="1200" dirty="0"/>
          </a:p>
        </p:txBody>
      </p:sp>
      <p:sp>
        <p:nvSpPr>
          <p:cNvPr id="24" name="Text 22"/>
          <p:cNvSpPr/>
          <p:nvPr/>
        </p:nvSpPr>
        <p:spPr>
          <a:xfrm>
            <a:off x="1143000" y="4306824"/>
            <a:ext cx="722376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JSONL=JSON Lines format. Each CVE stored as one line; loaded into Pinecone vector DB. Benefits: stream processing, error isolation, space efficiency</a:t>
            </a:r>
            <a:endParaRPr lang="en-US" sz="1000" dirty="0"/>
          </a:p>
        </p:txBody>
      </p:sp>
      <p:sp>
        <p:nvSpPr>
          <p:cNvPr id="25" name="Text 23"/>
          <p:cNvSpPr/>
          <p:nvPr/>
        </p:nvSpPr>
        <p:spPr>
          <a:xfrm>
            <a:off x="365760" y="4919472"/>
            <a:ext cx="8412480" cy="274320"/>
          </a:xfrm>
          <a:prstGeom prst="rect">
            <a:avLst/>
          </a:prstGeom>
          <a:noFill/>
          <a:ln/>
        </p:spPr>
        <p:txBody>
          <a:bodyPr wrap="square" rtlCol="0" anchor="ctr"/>
          <a:lstStyle/>
          <a:p>
            <a:pPr indent="0" marL="0">
              <a:buNone/>
            </a:pPr>
            <a:r>
              <a:rPr lang="en-US" sz="1050" i="1" dirty="0">
                <a:solidFill>
                  <a:srgbClr val="FFB703"/>
                </a:solidFill>
                <a:latin typeface="Calibri" pitchFamily="34" charset="0"/>
                <a:ea typeface="Calibri" pitchFamily="34" charset="-122"/>
                <a:cs typeface="Calibri" pitchFamily="34" charset="-120"/>
              </a:rPr>
              <a:t>Custom vulnerability datasets ranged from 1,000 to 36,000+ CVEs depending on the design document input.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Paper's Evaluation &amp; Results</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Human evaluation across 72 queries</a:t>
            </a:r>
            <a:endParaRPr lang="en-US" sz="1800" dirty="0"/>
          </a:p>
        </p:txBody>
      </p:sp>
      <p:sp>
        <p:nvSpPr>
          <p:cNvPr id="5" name="Shape 3"/>
          <p:cNvSpPr/>
          <p:nvPr/>
        </p:nvSpPr>
        <p:spPr>
          <a:xfrm>
            <a:off x="274320" y="1280160"/>
            <a:ext cx="1920240" cy="1280160"/>
          </a:xfrm>
          <a:prstGeom prst="roundRect">
            <a:avLst>
              <a:gd name="adj" fmla="val 857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65760" y="1389888"/>
            <a:ext cx="1737360" cy="640080"/>
          </a:xfrm>
          <a:prstGeom prst="rect">
            <a:avLst/>
          </a:prstGeom>
          <a:noFill/>
          <a:ln/>
        </p:spPr>
        <p:txBody>
          <a:bodyPr wrap="square" lIns="0" tIns="0" rIns="0" bIns="0" rtlCol="0" anchor="ctr"/>
          <a:lstStyle/>
          <a:p>
            <a:pPr algn="ctr" indent="0" marL="0">
              <a:buNone/>
            </a:pPr>
            <a:r>
              <a:rPr lang="en-US" sz="3000" b="1" dirty="0">
                <a:solidFill>
                  <a:srgbClr val="00B4D8"/>
                </a:solidFill>
                <a:latin typeface="Calibri" pitchFamily="34" charset="0"/>
                <a:ea typeface="Calibri" pitchFamily="34" charset="-122"/>
                <a:cs typeface="Calibri" pitchFamily="34" charset="-120"/>
              </a:rPr>
              <a:t>12</a:t>
            </a:r>
            <a:endParaRPr lang="en-US" sz="3000" dirty="0"/>
          </a:p>
        </p:txBody>
      </p:sp>
      <p:sp>
        <p:nvSpPr>
          <p:cNvPr id="7" name="Text 5"/>
          <p:cNvSpPr/>
          <p:nvPr/>
        </p:nvSpPr>
        <p:spPr>
          <a:xfrm>
            <a:off x="365760" y="2057400"/>
            <a:ext cx="173736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Design documents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(3–60+ pages each)</a:t>
            </a:r>
            <a:endParaRPr lang="en-US" sz="950" dirty="0"/>
          </a:p>
        </p:txBody>
      </p:sp>
      <p:sp>
        <p:nvSpPr>
          <p:cNvPr id="8" name="Shape 6"/>
          <p:cNvSpPr/>
          <p:nvPr/>
        </p:nvSpPr>
        <p:spPr>
          <a:xfrm>
            <a:off x="2423160" y="1280160"/>
            <a:ext cx="1920240" cy="1280160"/>
          </a:xfrm>
          <a:prstGeom prst="roundRect">
            <a:avLst>
              <a:gd name="adj" fmla="val 857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514600" y="1389888"/>
            <a:ext cx="1737360" cy="640080"/>
          </a:xfrm>
          <a:prstGeom prst="rect">
            <a:avLst/>
          </a:prstGeom>
          <a:noFill/>
          <a:ln/>
        </p:spPr>
        <p:txBody>
          <a:bodyPr wrap="square" lIns="0" tIns="0" rIns="0" bIns="0" rtlCol="0" anchor="ctr"/>
          <a:lstStyle/>
          <a:p>
            <a:pPr algn="ctr" indent="0" marL="0">
              <a:buNone/>
            </a:pPr>
            <a:r>
              <a:rPr lang="en-US" sz="3000" b="1" dirty="0">
                <a:solidFill>
                  <a:srgbClr val="FFB703"/>
                </a:solidFill>
                <a:latin typeface="Calibri" pitchFamily="34" charset="0"/>
                <a:ea typeface="Calibri" pitchFamily="34" charset="-122"/>
                <a:cs typeface="Calibri" pitchFamily="34" charset="-120"/>
              </a:rPr>
              <a:t>72</a:t>
            </a:r>
            <a:endParaRPr lang="en-US" sz="3000" dirty="0"/>
          </a:p>
        </p:txBody>
      </p:sp>
      <p:sp>
        <p:nvSpPr>
          <p:cNvPr id="10" name="Text 8"/>
          <p:cNvSpPr/>
          <p:nvPr/>
        </p:nvSpPr>
        <p:spPr>
          <a:xfrm>
            <a:off x="2514600" y="2057400"/>
            <a:ext cx="173736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Total query</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evaluations (6 per doc)</a:t>
            </a:r>
            <a:endParaRPr lang="en-US" sz="950" dirty="0"/>
          </a:p>
        </p:txBody>
      </p:sp>
      <p:sp>
        <p:nvSpPr>
          <p:cNvPr id="11" name="Shape 9"/>
          <p:cNvSpPr/>
          <p:nvPr/>
        </p:nvSpPr>
        <p:spPr>
          <a:xfrm>
            <a:off x="4572000" y="1280160"/>
            <a:ext cx="1920240" cy="1280160"/>
          </a:xfrm>
          <a:prstGeom prst="roundRect">
            <a:avLst>
              <a:gd name="adj" fmla="val 857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663440" y="1389888"/>
            <a:ext cx="1737360" cy="640080"/>
          </a:xfrm>
          <a:prstGeom prst="rect">
            <a:avLst/>
          </a:prstGeom>
          <a:noFill/>
          <a:ln/>
        </p:spPr>
        <p:txBody>
          <a:bodyPr wrap="square" lIns="0" tIns="0" rIns="0" bIns="0" rtlCol="0" anchor="ctr"/>
          <a:lstStyle/>
          <a:p>
            <a:pPr algn="ctr" indent="0" marL="0">
              <a:buNone/>
            </a:pPr>
            <a:r>
              <a:rPr lang="en-US" sz="3000" b="1" dirty="0">
                <a:solidFill>
                  <a:srgbClr val="2DC653"/>
                </a:solidFill>
                <a:latin typeface="Calibri" pitchFamily="34" charset="0"/>
                <a:ea typeface="Calibri" pitchFamily="34" charset="-122"/>
                <a:cs typeface="Calibri" pitchFamily="34" charset="-120"/>
              </a:rPr>
              <a:t>75%+</a:t>
            </a:r>
            <a:endParaRPr lang="en-US" sz="3000" dirty="0"/>
          </a:p>
        </p:txBody>
      </p:sp>
      <p:sp>
        <p:nvSpPr>
          <p:cNvPr id="13" name="Text 11"/>
          <p:cNvSpPr/>
          <p:nvPr/>
        </p:nvSpPr>
        <p:spPr>
          <a:xfrm>
            <a:off x="4663440" y="2057400"/>
            <a:ext cx="173736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Human satisfaction</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rate overall</a:t>
            </a:r>
            <a:endParaRPr lang="en-US" sz="950" dirty="0"/>
          </a:p>
        </p:txBody>
      </p:sp>
      <p:sp>
        <p:nvSpPr>
          <p:cNvPr id="14" name="Shape 12"/>
          <p:cNvSpPr/>
          <p:nvPr/>
        </p:nvSpPr>
        <p:spPr>
          <a:xfrm>
            <a:off x="6720840" y="1280160"/>
            <a:ext cx="1920240" cy="1280160"/>
          </a:xfrm>
          <a:prstGeom prst="roundRect">
            <a:avLst>
              <a:gd name="adj" fmla="val 8571"/>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6812280" y="1389888"/>
            <a:ext cx="1737360" cy="640080"/>
          </a:xfrm>
          <a:prstGeom prst="rect">
            <a:avLst/>
          </a:prstGeom>
          <a:noFill/>
          <a:ln/>
        </p:spPr>
        <p:txBody>
          <a:bodyPr wrap="square" lIns="0" tIns="0" rIns="0" bIns="0" rtlCol="0" anchor="ctr"/>
          <a:lstStyle/>
          <a:p>
            <a:pPr algn="ctr" indent="0" marL="0">
              <a:buNone/>
            </a:pPr>
            <a:r>
              <a:rPr lang="en-US" sz="3000" b="1" dirty="0">
                <a:solidFill>
                  <a:srgbClr val="E63946"/>
                </a:solidFill>
                <a:latin typeface="Calibri" pitchFamily="34" charset="0"/>
                <a:ea typeface="Calibri" pitchFamily="34" charset="-122"/>
                <a:cs typeface="Calibri" pitchFamily="34" charset="-120"/>
              </a:rPr>
              <a:t>25–50s</a:t>
            </a:r>
            <a:endParaRPr lang="en-US" sz="3000" dirty="0"/>
          </a:p>
        </p:txBody>
      </p:sp>
      <p:sp>
        <p:nvSpPr>
          <p:cNvPr id="16" name="Text 14"/>
          <p:cNvSpPr/>
          <p:nvPr/>
        </p:nvSpPr>
        <p:spPr>
          <a:xfrm>
            <a:off x="6812280" y="2057400"/>
            <a:ext cx="1737360" cy="4114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Query response</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time range</a:t>
            </a:r>
            <a:endParaRPr lang="en-US" sz="950" dirty="0"/>
          </a:p>
        </p:txBody>
      </p:sp>
      <p:sp>
        <p:nvSpPr>
          <p:cNvPr id="17" name="Shape 15"/>
          <p:cNvSpPr/>
          <p:nvPr/>
        </p:nvSpPr>
        <p:spPr>
          <a:xfrm>
            <a:off x="365760" y="2743200"/>
            <a:ext cx="3931920" cy="219456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502920" y="2834640"/>
            <a:ext cx="3657600" cy="347472"/>
          </a:xfrm>
          <a:prstGeom prst="rect">
            <a:avLst/>
          </a:prstGeom>
          <a:noFill/>
          <a:ln/>
        </p:spPr>
        <p:txBody>
          <a:bodyPr wrap="square"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Base LLM (No RAG)</a:t>
            </a:r>
            <a:endParaRPr lang="en-US" sz="1300" dirty="0"/>
          </a:p>
        </p:txBody>
      </p:sp>
      <p:pic>
        <p:nvPicPr>
          <p:cNvPr id="19" name="Image 0" descr="preencoded.png">    </p:cNvPr>
          <p:cNvPicPr>
            <a:picLocks noChangeAspect="1"/>
          </p:cNvPicPr>
          <p:nvPr/>
        </p:nvPicPr>
        <p:blipFill>
          <a:blip r:embed="rId1"/>
          <a:stretch>
            <a:fillRect/>
          </a:stretch>
        </p:blipFill>
        <p:spPr>
          <a:xfrm>
            <a:off x="548640" y="3246120"/>
            <a:ext cx="274320" cy="274320"/>
          </a:xfrm>
          <a:prstGeom prst="rect">
            <a:avLst/>
          </a:prstGeom>
        </p:spPr>
      </p:pic>
      <p:sp>
        <p:nvSpPr>
          <p:cNvPr id="20" name="Text 17"/>
          <p:cNvSpPr/>
          <p:nvPr/>
        </p:nvSpPr>
        <p:spPr>
          <a:xfrm>
            <a:off x="914400" y="3246120"/>
            <a:ext cx="320040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Avg. 253 words per response</a:t>
            </a:r>
            <a:endParaRPr lang="en-US" sz="1050" dirty="0"/>
          </a:p>
        </p:txBody>
      </p:sp>
      <p:pic>
        <p:nvPicPr>
          <p:cNvPr id="21" name="Image 1" descr="preencoded.png">    </p:cNvPr>
          <p:cNvPicPr>
            <a:picLocks noChangeAspect="1"/>
          </p:cNvPicPr>
          <p:nvPr/>
        </p:nvPicPr>
        <p:blipFill>
          <a:blip r:embed="rId2"/>
          <a:stretch>
            <a:fillRect/>
          </a:stretch>
        </p:blipFill>
        <p:spPr>
          <a:xfrm>
            <a:off x="548640" y="3630168"/>
            <a:ext cx="274320" cy="274320"/>
          </a:xfrm>
          <a:prstGeom prst="rect">
            <a:avLst/>
          </a:prstGeom>
        </p:spPr>
      </p:pic>
      <p:sp>
        <p:nvSpPr>
          <p:cNvPr id="22" name="Text 18"/>
          <p:cNvSpPr/>
          <p:nvPr/>
        </p:nvSpPr>
        <p:spPr>
          <a:xfrm>
            <a:off x="914400" y="3630168"/>
            <a:ext cx="320040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Often includes irrelevant content</a:t>
            </a:r>
            <a:endParaRPr lang="en-US" sz="1050" dirty="0"/>
          </a:p>
        </p:txBody>
      </p:sp>
      <p:pic>
        <p:nvPicPr>
          <p:cNvPr id="23" name="Image 2" descr="preencoded.png">    </p:cNvPr>
          <p:cNvPicPr>
            <a:picLocks noChangeAspect="1"/>
          </p:cNvPicPr>
          <p:nvPr/>
        </p:nvPicPr>
        <p:blipFill>
          <a:blip r:embed="rId3"/>
          <a:stretch>
            <a:fillRect/>
          </a:stretch>
        </p:blipFill>
        <p:spPr>
          <a:xfrm>
            <a:off x="548640" y="4014216"/>
            <a:ext cx="274320" cy="274320"/>
          </a:xfrm>
          <a:prstGeom prst="rect">
            <a:avLst/>
          </a:prstGeom>
        </p:spPr>
      </p:pic>
      <p:sp>
        <p:nvSpPr>
          <p:cNvPr id="24" name="Text 19"/>
          <p:cNvSpPr/>
          <p:nvPr/>
        </p:nvSpPr>
        <p:spPr>
          <a:xfrm>
            <a:off x="914400" y="4014216"/>
            <a:ext cx="320040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Prone to hallucinations</a:t>
            </a:r>
            <a:endParaRPr lang="en-US" sz="1050" dirty="0"/>
          </a:p>
        </p:txBody>
      </p:sp>
      <p:pic>
        <p:nvPicPr>
          <p:cNvPr id="25" name="Image 3" descr="preencoded.png">    </p:cNvPr>
          <p:cNvPicPr>
            <a:picLocks noChangeAspect="1"/>
          </p:cNvPicPr>
          <p:nvPr/>
        </p:nvPicPr>
        <p:blipFill>
          <a:blip r:embed="rId4"/>
          <a:stretch>
            <a:fillRect/>
          </a:stretch>
        </p:blipFill>
        <p:spPr>
          <a:xfrm>
            <a:off x="548640" y="4398264"/>
            <a:ext cx="274320" cy="274320"/>
          </a:xfrm>
          <a:prstGeom prst="rect">
            <a:avLst/>
          </a:prstGeom>
        </p:spPr>
      </p:pic>
      <p:sp>
        <p:nvSpPr>
          <p:cNvPr id="26" name="Text 20"/>
          <p:cNvSpPr/>
          <p:nvPr/>
        </p:nvSpPr>
        <p:spPr>
          <a:xfrm>
            <a:off x="914400" y="4398264"/>
            <a:ext cx="320040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No awareness of input doc context</a:t>
            </a:r>
            <a:endParaRPr lang="en-US" sz="1050" dirty="0"/>
          </a:p>
        </p:txBody>
      </p:sp>
      <p:sp>
        <p:nvSpPr>
          <p:cNvPr id="27" name="Shape 21"/>
          <p:cNvSpPr/>
          <p:nvPr/>
        </p:nvSpPr>
        <p:spPr>
          <a:xfrm>
            <a:off x="4754880" y="2743200"/>
            <a:ext cx="3931920" cy="219456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8" name="Text 22"/>
          <p:cNvSpPr/>
          <p:nvPr/>
        </p:nvSpPr>
        <p:spPr>
          <a:xfrm>
            <a:off x="4892040" y="2834640"/>
            <a:ext cx="365760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RAG-Enhanced LLM</a:t>
            </a:r>
            <a:endParaRPr lang="en-US" sz="1300" dirty="0"/>
          </a:p>
        </p:txBody>
      </p:sp>
      <p:pic>
        <p:nvPicPr>
          <p:cNvPr id="29" name="Image 4" descr="preencoded.png">    </p:cNvPr>
          <p:cNvPicPr>
            <a:picLocks noChangeAspect="1"/>
          </p:cNvPicPr>
          <p:nvPr/>
        </p:nvPicPr>
        <p:blipFill>
          <a:blip r:embed="rId5"/>
          <a:stretch>
            <a:fillRect/>
          </a:stretch>
        </p:blipFill>
        <p:spPr>
          <a:xfrm>
            <a:off x="4892040" y="3246120"/>
            <a:ext cx="274320" cy="274320"/>
          </a:xfrm>
          <a:prstGeom prst="rect">
            <a:avLst/>
          </a:prstGeom>
        </p:spPr>
      </p:pic>
      <p:sp>
        <p:nvSpPr>
          <p:cNvPr id="30" name="Text 23"/>
          <p:cNvSpPr/>
          <p:nvPr/>
        </p:nvSpPr>
        <p:spPr>
          <a:xfrm>
            <a:off x="5257800" y="3246120"/>
            <a:ext cx="329184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Avg. 74 words — concise &amp; precise</a:t>
            </a:r>
            <a:endParaRPr lang="en-US" sz="1050" dirty="0"/>
          </a:p>
        </p:txBody>
      </p:sp>
      <p:pic>
        <p:nvPicPr>
          <p:cNvPr id="31" name="Image 5" descr="preencoded.png">    </p:cNvPr>
          <p:cNvPicPr>
            <a:picLocks noChangeAspect="1"/>
          </p:cNvPicPr>
          <p:nvPr/>
        </p:nvPicPr>
        <p:blipFill>
          <a:blip r:embed="rId6"/>
          <a:stretch>
            <a:fillRect/>
          </a:stretch>
        </p:blipFill>
        <p:spPr>
          <a:xfrm>
            <a:off x="4892040" y="3630168"/>
            <a:ext cx="274320" cy="274320"/>
          </a:xfrm>
          <a:prstGeom prst="rect">
            <a:avLst/>
          </a:prstGeom>
        </p:spPr>
      </p:pic>
      <p:sp>
        <p:nvSpPr>
          <p:cNvPr id="32" name="Text 24"/>
          <p:cNvSpPr/>
          <p:nvPr/>
        </p:nvSpPr>
        <p:spPr>
          <a:xfrm>
            <a:off x="5257800" y="3630168"/>
            <a:ext cx="329184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Grounded in actual document content</a:t>
            </a:r>
            <a:endParaRPr lang="en-US" sz="1050" dirty="0"/>
          </a:p>
        </p:txBody>
      </p:sp>
      <p:pic>
        <p:nvPicPr>
          <p:cNvPr id="33" name="Image 6" descr="preencoded.png">    </p:cNvPr>
          <p:cNvPicPr>
            <a:picLocks noChangeAspect="1"/>
          </p:cNvPicPr>
          <p:nvPr/>
        </p:nvPicPr>
        <p:blipFill>
          <a:blip r:embed="rId7"/>
          <a:stretch>
            <a:fillRect/>
          </a:stretch>
        </p:blipFill>
        <p:spPr>
          <a:xfrm>
            <a:off x="4892040" y="4014216"/>
            <a:ext cx="274320" cy="274320"/>
          </a:xfrm>
          <a:prstGeom prst="rect">
            <a:avLst/>
          </a:prstGeom>
        </p:spPr>
      </p:pic>
      <p:sp>
        <p:nvSpPr>
          <p:cNvPr id="34" name="Text 25"/>
          <p:cNvSpPr/>
          <p:nvPr/>
        </p:nvSpPr>
        <p:spPr>
          <a:xfrm>
            <a:off x="5257800" y="4014216"/>
            <a:ext cx="329184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Shows 'honesty' — admits when unsure</a:t>
            </a:r>
            <a:endParaRPr lang="en-US" sz="1050" dirty="0"/>
          </a:p>
        </p:txBody>
      </p:sp>
      <p:pic>
        <p:nvPicPr>
          <p:cNvPr id="35" name="Image 7" descr="preencoded.png">    </p:cNvPr>
          <p:cNvPicPr>
            <a:picLocks noChangeAspect="1"/>
          </p:cNvPicPr>
          <p:nvPr/>
        </p:nvPicPr>
        <p:blipFill>
          <a:blip r:embed="rId8"/>
          <a:stretch>
            <a:fillRect/>
          </a:stretch>
        </p:blipFill>
        <p:spPr>
          <a:xfrm>
            <a:off x="4892040" y="4398264"/>
            <a:ext cx="274320" cy="274320"/>
          </a:xfrm>
          <a:prstGeom prst="rect">
            <a:avLst/>
          </a:prstGeom>
        </p:spPr>
      </p:pic>
      <p:sp>
        <p:nvSpPr>
          <p:cNvPr id="36" name="Text 26"/>
          <p:cNvSpPr/>
          <p:nvPr/>
        </p:nvSpPr>
        <p:spPr>
          <a:xfrm>
            <a:off x="5257800" y="4398264"/>
            <a:ext cx="3291840" cy="2743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Incorporates specific CVE details</a:t>
            </a:r>
            <a:endParaRPr lang="en-US" sz="1050" dirty="0"/>
          </a:p>
        </p:txBody>
      </p:sp>
      <p:sp>
        <p:nvSpPr>
          <p:cNvPr id="37" name="Text 27"/>
          <p:cNvSpPr/>
          <p:nvPr/>
        </p:nvSpPr>
        <p:spPr>
          <a:xfrm>
            <a:off x="365760" y="4983480"/>
            <a:ext cx="841248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RAG = Retrieval-Augmented Generation: Augments LLM with retrieved document chunks for context-aware answers.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0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B703"/>
          </a:solidFill>
          <a:ln w="12700">
            <a:solidFill>
              <a:srgbClr val="FFB703"/>
            </a:solidFill>
            <a:prstDash val="solid"/>
          </a:ln>
        </p:spPr>
      </p:sp>
      <p:sp>
        <p:nvSpPr>
          <p:cNvPr id="3" name="Text 1"/>
          <p:cNvSpPr/>
          <p:nvPr/>
        </p:nvSpPr>
        <p:spPr>
          <a:xfrm>
            <a:off x="457200" y="137160"/>
            <a:ext cx="8229600" cy="685800"/>
          </a:xfrm>
          <a:prstGeom prst="rect">
            <a:avLst/>
          </a:prstGeom>
          <a:noFill/>
          <a:ln/>
        </p:spPr>
        <p:txBody>
          <a:bodyPr wrap="square"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IDENTIFIED GAPS &amp; LIMITATIONS</a:t>
            </a:r>
            <a:endParaRPr lang="en-US" sz="2400" dirty="0"/>
          </a:p>
        </p:txBody>
      </p:sp>
      <p:sp>
        <p:nvSpPr>
          <p:cNvPr id="4" name="Text 2"/>
          <p:cNvSpPr/>
          <p:nvPr/>
        </p:nvSpPr>
        <p:spPr>
          <a:xfrm>
            <a:off x="457200" y="1097280"/>
            <a:ext cx="8229600" cy="365760"/>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Critical shortcomings of the paper's approach</a:t>
            </a:r>
            <a:endParaRPr lang="en-US" sz="1400" dirty="0"/>
          </a:p>
        </p:txBody>
      </p:sp>
      <p:sp>
        <p:nvSpPr>
          <p:cNvPr id="5" name="Shape 3"/>
          <p:cNvSpPr/>
          <p:nvPr/>
        </p:nvSpPr>
        <p:spPr>
          <a:xfrm>
            <a:off x="320040" y="160020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11480" y="1691640"/>
            <a:ext cx="685800" cy="274320"/>
          </a:xfrm>
          <a:prstGeom prst="roundRect">
            <a:avLst>
              <a:gd name="adj" fmla="val 26667"/>
            </a:avLst>
          </a:prstGeom>
          <a:solidFill>
            <a:srgbClr val="E63946"/>
          </a:solidFill>
          <a:ln w="12700">
            <a:solidFill>
              <a:srgbClr val="E63946"/>
            </a:solidFill>
            <a:prstDash val="solid"/>
          </a:ln>
        </p:spPr>
      </p:sp>
      <p:sp>
        <p:nvSpPr>
          <p:cNvPr id="7" name="Text 5"/>
          <p:cNvSpPr/>
          <p:nvPr/>
        </p:nvSpPr>
        <p:spPr>
          <a:xfrm>
            <a:off x="411480" y="169164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1</a:t>
            </a:r>
            <a:endParaRPr lang="en-US" sz="900" dirty="0"/>
          </a:p>
        </p:txBody>
      </p:sp>
      <p:sp>
        <p:nvSpPr>
          <p:cNvPr id="8" name="Text 6"/>
          <p:cNvSpPr/>
          <p:nvPr/>
        </p:nvSpPr>
        <p:spPr>
          <a:xfrm>
            <a:off x="1188720" y="167335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 MQ3 &amp; MQ4 Coverage</a:t>
            </a:r>
            <a:endParaRPr lang="en-US" sz="1100" dirty="0"/>
          </a:p>
        </p:txBody>
      </p:sp>
      <p:sp>
        <p:nvSpPr>
          <p:cNvPr id="9" name="Text 7"/>
          <p:cNvSpPr/>
          <p:nvPr/>
        </p:nvSpPr>
        <p:spPr>
          <a:xfrm>
            <a:off x="411480" y="203911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The system only addresses MQ1 and MQ2. Mitigation recommendations (MQ3) and verification (MQ4) are completely absent.</a:t>
            </a:r>
            <a:endParaRPr lang="en-US" sz="950" dirty="0"/>
          </a:p>
        </p:txBody>
      </p:sp>
      <p:sp>
        <p:nvSpPr>
          <p:cNvPr id="10" name="Shape 8"/>
          <p:cNvSpPr/>
          <p:nvPr/>
        </p:nvSpPr>
        <p:spPr>
          <a:xfrm>
            <a:off x="320040" y="269748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11480" y="2788920"/>
            <a:ext cx="685800" cy="274320"/>
          </a:xfrm>
          <a:prstGeom prst="roundRect">
            <a:avLst>
              <a:gd name="adj" fmla="val 26667"/>
            </a:avLst>
          </a:prstGeom>
          <a:solidFill>
            <a:srgbClr val="E63946"/>
          </a:solidFill>
          <a:ln w="12700">
            <a:solidFill>
              <a:srgbClr val="E63946"/>
            </a:solidFill>
            <a:prstDash val="solid"/>
          </a:ln>
        </p:spPr>
      </p:sp>
      <p:sp>
        <p:nvSpPr>
          <p:cNvPr id="12" name="Text 10"/>
          <p:cNvSpPr/>
          <p:nvPr/>
        </p:nvSpPr>
        <p:spPr>
          <a:xfrm>
            <a:off x="411480" y="278892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2</a:t>
            </a:r>
            <a:endParaRPr lang="en-US" sz="900" dirty="0"/>
          </a:p>
        </p:txBody>
      </p:sp>
      <p:sp>
        <p:nvSpPr>
          <p:cNvPr id="13" name="Text 11"/>
          <p:cNvSpPr/>
          <p:nvPr/>
        </p:nvSpPr>
        <p:spPr>
          <a:xfrm>
            <a:off x="1188720" y="277063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Hallucination Risk</a:t>
            </a:r>
            <a:endParaRPr lang="en-US" sz="1100" dirty="0"/>
          </a:p>
        </p:txBody>
      </p:sp>
      <p:sp>
        <p:nvSpPr>
          <p:cNvPr id="14" name="Text 12"/>
          <p:cNvSpPr/>
          <p:nvPr/>
        </p:nvSpPr>
        <p:spPr>
          <a:xfrm>
            <a:off x="411480" y="313639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Despite RAG, the LLM still hallucinates (e.g., MTKs misidentified). No automated hallucination detection or verification layer exists.</a:t>
            </a:r>
            <a:endParaRPr lang="en-US" sz="950" dirty="0"/>
          </a:p>
        </p:txBody>
      </p:sp>
      <p:sp>
        <p:nvSpPr>
          <p:cNvPr id="15" name="Shape 13"/>
          <p:cNvSpPr/>
          <p:nvPr/>
        </p:nvSpPr>
        <p:spPr>
          <a:xfrm>
            <a:off x="320040" y="379476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11480" y="3886200"/>
            <a:ext cx="685800" cy="274320"/>
          </a:xfrm>
          <a:prstGeom prst="roundRect">
            <a:avLst>
              <a:gd name="adj" fmla="val 26667"/>
            </a:avLst>
          </a:prstGeom>
          <a:solidFill>
            <a:srgbClr val="FFB703"/>
          </a:solidFill>
          <a:ln w="12700">
            <a:solidFill>
              <a:srgbClr val="FFB703"/>
            </a:solidFill>
            <a:prstDash val="solid"/>
          </a:ln>
        </p:spPr>
      </p:sp>
      <p:sp>
        <p:nvSpPr>
          <p:cNvPr id="17" name="Text 15"/>
          <p:cNvSpPr/>
          <p:nvPr/>
        </p:nvSpPr>
        <p:spPr>
          <a:xfrm>
            <a:off x="411480" y="388620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3</a:t>
            </a:r>
            <a:endParaRPr lang="en-US" sz="900" dirty="0"/>
          </a:p>
        </p:txBody>
      </p:sp>
      <p:sp>
        <p:nvSpPr>
          <p:cNvPr id="18" name="Text 16"/>
          <p:cNvSpPr/>
          <p:nvPr/>
        </p:nvSpPr>
        <p:spPr>
          <a:xfrm>
            <a:off x="1188720" y="386791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Static Evaluation Method</a:t>
            </a:r>
            <a:endParaRPr lang="en-US" sz="1100" dirty="0"/>
          </a:p>
        </p:txBody>
      </p:sp>
      <p:sp>
        <p:nvSpPr>
          <p:cNvPr id="19" name="Text 17"/>
          <p:cNvSpPr/>
          <p:nvPr/>
        </p:nvSpPr>
        <p:spPr>
          <a:xfrm>
            <a:off x="411480" y="423367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Human evaluation with binary +/- scores is subjective, not reproducible, and doesn't scale. No automated, quantitative benchmark established.</a:t>
            </a:r>
            <a:endParaRPr lang="en-US" sz="950" dirty="0"/>
          </a:p>
        </p:txBody>
      </p:sp>
      <p:sp>
        <p:nvSpPr>
          <p:cNvPr id="20" name="Shape 18"/>
          <p:cNvSpPr/>
          <p:nvPr/>
        </p:nvSpPr>
        <p:spPr>
          <a:xfrm>
            <a:off x="4754880" y="160020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846320" y="1691640"/>
            <a:ext cx="685800" cy="274320"/>
          </a:xfrm>
          <a:prstGeom prst="roundRect">
            <a:avLst>
              <a:gd name="adj" fmla="val 26667"/>
            </a:avLst>
          </a:prstGeom>
          <a:solidFill>
            <a:srgbClr val="FFB703"/>
          </a:solidFill>
          <a:ln w="12700">
            <a:solidFill>
              <a:srgbClr val="FFB703"/>
            </a:solidFill>
            <a:prstDash val="solid"/>
          </a:ln>
        </p:spPr>
      </p:sp>
      <p:sp>
        <p:nvSpPr>
          <p:cNvPr id="22" name="Text 20"/>
          <p:cNvSpPr/>
          <p:nvPr/>
        </p:nvSpPr>
        <p:spPr>
          <a:xfrm>
            <a:off x="4846320" y="169164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4</a:t>
            </a:r>
            <a:endParaRPr lang="en-US" sz="900" dirty="0"/>
          </a:p>
        </p:txBody>
      </p:sp>
      <p:sp>
        <p:nvSpPr>
          <p:cNvPr id="23" name="Text 21"/>
          <p:cNvSpPr/>
          <p:nvPr/>
        </p:nvSpPr>
        <p:spPr>
          <a:xfrm>
            <a:off x="5623560" y="167335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Slow Response Times</a:t>
            </a:r>
            <a:endParaRPr lang="en-US" sz="1100" dirty="0"/>
          </a:p>
        </p:txBody>
      </p:sp>
      <p:sp>
        <p:nvSpPr>
          <p:cNvPr id="24" name="Text 22"/>
          <p:cNvSpPr/>
          <p:nvPr/>
        </p:nvSpPr>
        <p:spPr>
          <a:xfrm>
            <a:off x="4846320" y="203911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25–50 second query response times are impractical for real-time use. No caching, async processing, or optimization strategies explored.</a:t>
            </a:r>
            <a:endParaRPr lang="en-US" sz="950" dirty="0"/>
          </a:p>
        </p:txBody>
      </p:sp>
      <p:sp>
        <p:nvSpPr>
          <p:cNvPr id="25" name="Shape 23"/>
          <p:cNvSpPr/>
          <p:nvPr/>
        </p:nvSpPr>
        <p:spPr>
          <a:xfrm>
            <a:off x="4754880" y="269748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846320" y="2788920"/>
            <a:ext cx="685800" cy="274320"/>
          </a:xfrm>
          <a:prstGeom prst="roundRect">
            <a:avLst>
              <a:gd name="adj" fmla="val 26667"/>
            </a:avLst>
          </a:prstGeom>
          <a:solidFill>
            <a:srgbClr val="E63946"/>
          </a:solidFill>
          <a:ln w="12700">
            <a:solidFill>
              <a:srgbClr val="E63946"/>
            </a:solidFill>
            <a:prstDash val="solid"/>
          </a:ln>
        </p:spPr>
      </p:sp>
      <p:sp>
        <p:nvSpPr>
          <p:cNvPr id="27" name="Text 25"/>
          <p:cNvSpPr/>
          <p:nvPr/>
        </p:nvSpPr>
        <p:spPr>
          <a:xfrm>
            <a:off x="4846320" y="278892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5</a:t>
            </a:r>
            <a:endParaRPr lang="en-US" sz="900" dirty="0"/>
          </a:p>
        </p:txBody>
      </p:sp>
      <p:sp>
        <p:nvSpPr>
          <p:cNvPr id="28" name="Text 26"/>
          <p:cNvSpPr/>
          <p:nvPr/>
        </p:nvSpPr>
        <p:spPr>
          <a:xfrm>
            <a:off x="5623560" y="277063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Privacy &amp; Security Concern</a:t>
            </a:r>
            <a:endParaRPr lang="en-US" sz="1100" dirty="0"/>
          </a:p>
        </p:txBody>
      </p:sp>
      <p:sp>
        <p:nvSpPr>
          <p:cNvPr id="29" name="Text 27"/>
          <p:cNvSpPr/>
          <p:nvPr/>
        </p:nvSpPr>
        <p:spPr>
          <a:xfrm>
            <a:off x="4846320" y="313639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Sharing sensitive design documents with external LLM APIs or cloud vector DBs creates membership inference and data exfiltration risks.</a:t>
            </a:r>
            <a:endParaRPr lang="en-US" sz="950" dirty="0"/>
          </a:p>
        </p:txBody>
      </p:sp>
      <p:sp>
        <p:nvSpPr>
          <p:cNvPr id="30" name="Shape 28"/>
          <p:cNvSpPr/>
          <p:nvPr/>
        </p:nvSpPr>
        <p:spPr>
          <a:xfrm>
            <a:off x="4754880" y="3794760"/>
            <a:ext cx="4206240" cy="960120"/>
          </a:xfrm>
          <a:prstGeom prst="roundRect">
            <a:avLst>
              <a:gd name="adj" fmla="val 11429"/>
            </a:avLst>
          </a:prstGeom>
          <a:solidFill>
            <a:srgbClr val="1E1E0A"/>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4846320" y="3886200"/>
            <a:ext cx="685800" cy="274320"/>
          </a:xfrm>
          <a:prstGeom prst="roundRect">
            <a:avLst>
              <a:gd name="adj" fmla="val 26667"/>
            </a:avLst>
          </a:prstGeom>
          <a:solidFill>
            <a:srgbClr val="64748B"/>
          </a:solidFill>
          <a:ln w="12700">
            <a:solidFill>
              <a:srgbClr val="64748B"/>
            </a:solidFill>
            <a:prstDash val="solid"/>
          </a:ln>
        </p:spPr>
      </p:sp>
      <p:sp>
        <p:nvSpPr>
          <p:cNvPr id="32" name="Text 30"/>
          <p:cNvSpPr/>
          <p:nvPr/>
        </p:nvSpPr>
        <p:spPr>
          <a:xfrm>
            <a:off x="4846320" y="388620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 6</a:t>
            </a:r>
            <a:endParaRPr lang="en-US" sz="900" dirty="0"/>
          </a:p>
        </p:txBody>
      </p:sp>
      <p:sp>
        <p:nvSpPr>
          <p:cNvPr id="33" name="Text 31"/>
          <p:cNvSpPr/>
          <p:nvPr/>
        </p:nvSpPr>
        <p:spPr>
          <a:xfrm>
            <a:off x="5623560" y="3867912"/>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Limited Document Types</a:t>
            </a:r>
            <a:endParaRPr lang="en-US" sz="1100" dirty="0"/>
          </a:p>
        </p:txBody>
      </p:sp>
      <p:sp>
        <p:nvSpPr>
          <p:cNvPr id="34" name="Text 32"/>
          <p:cNvSpPr/>
          <p:nvPr/>
        </p:nvSpPr>
        <p:spPr>
          <a:xfrm>
            <a:off x="4846320" y="4233672"/>
            <a:ext cx="3977640" cy="411480"/>
          </a:xfrm>
          <a:prstGeom prst="rect">
            <a:avLst/>
          </a:prstGeom>
          <a:noFill/>
          <a:ln/>
        </p:spPr>
        <p:txBody>
          <a:bodyPr wrap="square" lIns="0" tIns="0" rIns="0" bIns="0" rtlCol="0" anchor="ctr"/>
          <a:lstStyle/>
          <a:p>
            <a:pPr indent="0" marL="0">
              <a:buNone/>
            </a:pPr>
            <a:r>
              <a:rPr lang="en-US" sz="950" dirty="0">
                <a:solidFill>
                  <a:srgbClr val="CCCC99"/>
                </a:solidFill>
                <a:latin typeface="Calibri" pitchFamily="34" charset="0"/>
                <a:ea typeface="Calibri" pitchFamily="34" charset="-122"/>
                <a:cs typeface="Calibri" pitchFamily="34" charset="-120"/>
              </a:rPr>
              <a:t>Only PDFs are supported. No handling of diagrams, architecture images, code files, or structured data formats (YAML, JSON configs).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Gap 1: Missing MQ3 &amp; MQ4 Coverage</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The threat model is incomplete without mitigation &amp; verification</a:t>
            </a:r>
            <a:endParaRPr lang="en-US" sz="1800" dirty="0"/>
          </a:p>
        </p:txBody>
      </p:sp>
      <p:sp>
        <p:nvSpPr>
          <p:cNvPr id="5" name="Text 3"/>
          <p:cNvSpPr/>
          <p:nvPr/>
        </p:nvSpPr>
        <p:spPr>
          <a:xfrm>
            <a:off x="457200" y="1188720"/>
            <a:ext cx="822960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The paper only answers MQ1 (What are we working on?) and MQ2 (What can go wrong?). A complete threat model requires all four questions:</a:t>
            </a:r>
            <a:endParaRPr lang="en-US" sz="1200" dirty="0"/>
          </a:p>
        </p:txBody>
      </p:sp>
      <p:sp>
        <p:nvSpPr>
          <p:cNvPr id="6" name="Shape 4"/>
          <p:cNvSpPr/>
          <p:nvPr/>
        </p:nvSpPr>
        <p:spPr>
          <a:xfrm>
            <a:off x="365760" y="1783080"/>
            <a:ext cx="8412480" cy="658368"/>
          </a:xfrm>
          <a:prstGeom prst="roundRect">
            <a:avLst>
              <a:gd name="adj" fmla="val 16667"/>
            </a:avLst>
          </a:prstGeom>
          <a:solidFill>
            <a:srgbClr val="F0FFF4"/>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57200" y="1892808"/>
            <a:ext cx="822960" cy="411480"/>
          </a:xfrm>
          <a:prstGeom prst="roundRect">
            <a:avLst>
              <a:gd name="adj" fmla="val 17778"/>
            </a:avLst>
          </a:prstGeom>
          <a:solidFill>
            <a:srgbClr val="2DC653"/>
          </a:solidFill>
          <a:ln w="12700">
            <a:solidFill>
              <a:srgbClr val="2DC653"/>
            </a:solidFill>
            <a:prstDash val="solid"/>
          </a:ln>
        </p:spPr>
      </p:sp>
      <p:sp>
        <p:nvSpPr>
          <p:cNvPr id="8" name="Text 6"/>
          <p:cNvSpPr/>
          <p:nvPr/>
        </p:nvSpPr>
        <p:spPr>
          <a:xfrm>
            <a:off x="457200" y="1892808"/>
            <a:ext cx="8229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MQ1 ✓</a:t>
            </a:r>
            <a:endParaRPr lang="en-US" sz="1100" dirty="0"/>
          </a:p>
        </p:txBody>
      </p:sp>
      <p:sp>
        <p:nvSpPr>
          <p:cNvPr id="9" name="Text 7"/>
          <p:cNvSpPr/>
          <p:nvPr/>
        </p:nvSpPr>
        <p:spPr>
          <a:xfrm>
            <a:off x="1417320" y="18288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System Understanding</a:t>
            </a:r>
            <a:endParaRPr lang="en-US" sz="1200" dirty="0"/>
          </a:p>
        </p:txBody>
      </p:sp>
      <p:sp>
        <p:nvSpPr>
          <p:cNvPr id="10" name="Text 8"/>
          <p:cNvSpPr/>
          <p:nvPr/>
        </p:nvSpPr>
        <p:spPr>
          <a:xfrm>
            <a:off x="1417320" y="2130552"/>
            <a:ext cx="685800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COVERED by paper</a:t>
            </a:r>
            <a:endParaRPr lang="en-US" sz="1050" dirty="0"/>
          </a:p>
        </p:txBody>
      </p:sp>
      <p:sp>
        <p:nvSpPr>
          <p:cNvPr id="11" name="Shape 9"/>
          <p:cNvSpPr/>
          <p:nvPr/>
        </p:nvSpPr>
        <p:spPr>
          <a:xfrm>
            <a:off x="365760" y="2560320"/>
            <a:ext cx="8412480" cy="658368"/>
          </a:xfrm>
          <a:prstGeom prst="roundRect">
            <a:avLst>
              <a:gd name="adj" fmla="val 16667"/>
            </a:avLst>
          </a:prstGeom>
          <a:solidFill>
            <a:srgbClr val="F0FFF4"/>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57200" y="2670048"/>
            <a:ext cx="822960" cy="411480"/>
          </a:xfrm>
          <a:prstGeom prst="roundRect">
            <a:avLst>
              <a:gd name="adj" fmla="val 17778"/>
            </a:avLst>
          </a:prstGeom>
          <a:solidFill>
            <a:srgbClr val="2DC653"/>
          </a:solidFill>
          <a:ln w="12700">
            <a:solidFill>
              <a:srgbClr val="2DC653"/>
            </a:solidFill>
            <a:prstDash val="solid"/>
          </a:ln>
        </p:spPr>
      </p:sp>
      <p:sp>
        <p:nvSpPr>
          <p:cNvPr id="13" name="Text 11"/>
          <p:cNvSpPr/>
          <p:nvPr/>
        </p:nvSpPr>
        <p:spPr>
          <a:xfrm>
            <a:off x="457200" y="2670048"/>
            <a:ext cx="8229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MQ2 ✓</a:t>
            </a:r>
            <a:endParaRPr lang="en-US" sz="1100" dirty="0"/>
          </a:p>
        </p:txBody>
      </p:sp>
      <p:sp>
        <p:nvSpPr>
          <p:cNvPr id="14" name="Text 12"/>
          <p:cNvSpPr/>
          <p:nvPr/>
        </p:nvSpPr>
        <p:spPr>
          <a:xfrm>
            <a:off x="1417320" y="260604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Threat Identification</a:t>
            </a:r>
            <a:endParaRPr lang="en-US" sz="1200" dirty="0"/>
          </a:p>
        </p:txBody>
      </p:sp>
      <p:sp>
        <p:nvSpPr>
          <p:cNvPr id="15" name="Text 13"/>
          <p:cNvSpPr/>
          <p:nvPr/>
        </p:nvSpPr>
        <p:spPr>
          <a:xfrm>
            <a:off x="1417320" y="2907792"/>
            <a:ext cx="685800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COVERED by paper</a:t>
            </a:r>
            <a:endParaRPr lang="en-US" sz="1050" dirty="0"/>
          </a:p>
        </p:txBody>
      </p:sp>
      <p:sp>
        <p:nvSpPr>
          <p:cNvPr id="16" name="Shape 14"/>
          <p:cNvSpPr/>
          <p:nvPr/>
        </p:nvSpPr>
        <p:spPr>
          <a:xfrm>
            <a:off x="365760" y="3337560"/>
            <a:ext cx="8412480" cy="658368"/>
          </a:xfrm>
          <a:prstGeom prst="roundRect">
            <a:avLst>
              <a:gd name="adj" fmla="val 16667"/>
            </a:avLst>
          </a:prstGeom>
          <a:solidFill>
            <a:srgbClr val="FFF0F0"/>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57200" y="3447288"/>
            <a:ext cx="822960" cy="411480"/>
          </a:xfrm>
          <a:prstGeom prst="roundRect">
            <a:avLst>
              <a:gd name="adj" fmla="val 17778"/>
            </a:avLst>
          </a:prstGeom>
          <a:solidFill>
            <a:srgbClr val="E63946"/>
          </a:solidFill>
          <a:ln w="12700">
            <a:solidFill>
              <a:srgbClr val="E63946"/>
            </a:solidFill>
            <a:prstDash val="solid"/>
          </a:ln>
        </p:spPr>
      </p:sp>
      <p:sp>
        <p:nvSpPr>
          <p:cNvPr id="18" name="Text 16"/>
          <p:cNvSpPr/>
          <p:nvPr/>
        </p:nvSpPr>
        <p:spPr>
          <a:xfrm>
            <a:off x="457200" y="3447288"/>
            <a:ext cx="8229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MQ3 ✗</a:t>
            </a:r>
            <a:endParaRPr lang="en-US" sz="1100" dirty="0"/>
          </a:p>
        </p:txBody>
      </p:sp>
      <p:sp>
        <p:nvSpPr>
          <p:cNvPr id="19" name="Text 17"/>
          <p:cNvSpPr/>
          <p:nvPr/>
        </p:nvSpPr>
        <p:spPr>
          <a:xfrm>
            <a:off x="1417320" y="338328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Mitigation Planning</a:t>
            </a:r>
            <a:endParaRPr lang="en-US" sz="1200" dirty="0"/>
          </a:p>
        </p:txBody>
      </p:sp>
      <p:sp>
        <p:nvSpPr>
          <p:cNvPr id="20" name="Text 18"/>
          <p:cNvSpPr/>
          <p:nvPr/>
        </p:nvSpPr>
        <p:spPr>
          <a:xfrm>
            <a:off x="1417320" y="3685032"/>
            <a:ext cx="6858000" cy="274320"/>
          </a:xfrm>
          <a:prstGeom prst="rect">
            <a:avLst/>
          </a:prstGeom>
          <a:noFill/>
          <a:ln/>
        </p:spPr>
        <p:txBody>
          <a:bodyPr wrap="square" lIns="0" tIns="0" rIns="0" bIns="0" rtlCol="0" anchor="ctr"/>
          <a:lstStyle/>
          <a:p>
            <a:pPr indent="0" marL="0">
              <a:buNone/>
            </a:pPr>
            <a:r>
              <a:rPr lang="en-US" sz="1050" dirty="0">
                <a:solidFill>
                  <a:srgbClr val="E63946"/>
                </a:solidFill>
                <a:latin typeface="Calibri" pitchFamily="34" charset="0"/>
                <a:ea typeface="Calibri" pitchFamily="34" charset="-122"/>
                <a:cs typeface="Calibri" pitchFamily="34" charset="-120"/>
              </a:rPr>
              <a:t>NOT covered — no recommendations for how to fix identified threats</a:t>
            </a:r>
            <a:endParaRPr lang="en-US" sz="1050" dirty="0"/>
          </a:p>
        </p:txBody>
      </p:sp>
      <p:sp>
        <p:nvSpPr>
          <p:cNvPr id="21" name="Shape 19"/>
          <p:cNvSpPr/>
          <p:nvPr/>
        </p:nvSpPr>
        <p:spPr>
          <a:xfrm>
            <a:off x="365760" y="4114800"/>
            <a:ext cx="8412480" cy="658368"/>
          </a:xfrm>
          <a:prstGeom prst="roundRect">
            <a:avLst>
              <a:gd name="adj" fmla="val 16667"/>
            </a:avLst>
          </a:prstGeom>
          <a:solidFill>
            <a:srgbClr val="FFF0F0"/>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457200" y="4224528"/>
            <a:ext cx="822960" cy="411480"/>
          </a:xfrm>
          <a:prstGeom prst="roundRect">
            <a:avLst>
              <a:gd name="adj" fmla="val 17778"/>
            </a:avLst>
          </a:prstGeom>
          <a:solidFill>
            <a:srgbClr val="E63946"/>
          </a:solidFill>
          <a:ln w="12700">
            <a:solidFill>
              <a:srgbClr val="E63946"/>
            </a:solidFill>
            <a:prstDash val="solid"/>
          </a:ln>
        </p:spPr>
      </p:sp>
      <p:sp>
        <p:nvSpPr>
          <p:cNvPr id="23" name="Text 21"/>
          <p:cNvSpPr/>
          <p:nvPr/>
        </p:nvSpPr>
        <p:spPr>
          <a:xfrm>
            <a:off x="457200" y="4224528"/>
            <a:ext cx="8229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MQ4 ✗</a:t>
            </a:r>
            <a:endParaRPr lang="en-US" sz="1100" dirty="0"/>
          </a:p>
        </p:txBody>
      </p:sp>
      <p:sp>
        <p:nvSpPr>
          <p:cNvPr id="24" name="Text 22"/>
          <p:cNvSpPr/>
          <p:nvPr/>
        </p:nvSpPr>
        <p:spPr>
          <a:xfrm>
            <a:off x="1417320" y="416052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Effectiveness Verification</a:t>
            </a:r>
            <a:endParaRPr lang="en-US" sz="1200" dirty="0"/>
          </a:p>
        </p:txBody>
      </p:sp>
      <p:sp>
        <p:nvSpPr>
          <p:cNvPr id="25" name="Text 23"/>
          <p:cNvSpPr/>
          <p:nvPr/>
        </p:nvSpPr>
        <p:spPr>
          <a:xfrm>
            <a:off x="1417320" y="4462272"/>
            <a:ext cx="6858000" cy="274320"/>
          </a:xfrm>
          <a:prstGeom prst="rect">
            <a:avLst/>
          </a:prstGeom>
          <a:noFill/>
          <a:ln/>
        </p:spPr>
        <p:txBody>
          <a:bodyPr wrap="square" lIns="0" tIns="0" rIns="0" bIns="0" rtlCol="0" anchor="ctr"/>
          <a:lstStyle/>
          <a:p>
            <a:pPr indent="0" marL="0">
              <a:buNone/>
            </a:pPr>
            <a:r>
              <a:rPr lang="en-US" sz="1050" dirty="0">
                <a:solidFill>
                  <a:srgbClr val="E63946"/>
                </a:solidFill>
                <a:latin typeface="Calibri" pitchFamily="34" charset="0"/>
                <a:ea typeface="Calibri" pitchFamily="34" charset="-122"/>
                <a:cs typeface="Calibri" pitchFamily="34" charset="-120"/>
              </a:rPr>
              <a:t>NOT covered — no process to verify if the threat model was adequate</a:t>
            </a:r>
            <a:endParaRPr lang="en-US" sz="1050" dirty="0"/>
          </a:p>
        </p:txBody>
      </p:sp>
      <p:sp>
        <p:nvSpPr>
          <p:cNvPr id="26" name="Text 24"/>
          <p:cNvSpPr/>
          <p:nvPr/>
        </p:nvSpPr>
        <p:spPr>
          <a:xfrm>
            <a:off x="365760" y="4983480"/>
            <a:ext cx="8412480" cy="27432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Impact: Without MQ3 and MQ4, engineers still need to manually develop mitigations and verify coverage — defeating the goal of automation.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Gaps 2 &amp; 3: Hallucinations &amp; Evaluation</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Reliability and measurement challenges</a:t>
            </a:r>
            <a:endParaRPr lang="en-US" sz="1800" dirty="0"/>
          </a:p>
        </p:txBody>
      </p:sp>
      <p:sp>
        <p:nvSpPr>
          <p:cNvPr id="5" name="Shape 3"/>
          <p:cNvSpPr/>
          <p:nvPr/>
        </p:nvSpPr>
        <p:spPr>
          <a:xfrm>
            <a:off x="274320" y="1234440"/>
            <a:ext cx="4114800" cy="3566160"/>
          </a:xfrm>
          <a:prstGeom prst="roundRect">
            <a:avLst>
              <a:gd name="adj" fmla="val 3077"/>
            </a:avLst>
          </a:prstGeom>
          <a:solidFill>
            <a:srgbClr val="FFF5F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11480" y="1353312"/>
            <a:ext cx="3840480" cy="347472"/>
          </a:xfrm>
          <a:prstGeom prst="rect">
            <a:avLst/>
          </a:prstGeom>
          <a:noFill/>
          <a:ln/>
        </p:spPr>
        <p:txBody>
          <a:bodyPr wrap="square"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GAP 2: Hallucination Risk</a:t>
            </a:r>
            <a:endParaRPr lang="en-US" sz="1300" dirty="0"/>
          </a:p>
        </p:txBody>
      </p:sp>
      <p:sp>
        <p:nvSpPr>
          <p:cNvPr id="7" name="Text 5"/>
          <p:cNvSpPr/>
          <p:nvPr/>
        </p:nvSpPr>
        <p:spPr>
          <a:xfrm>
            <a:off x="411480" y="1737360"/>
            <a:ext cx="3749040" cy="59436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The paper acknowledges hallucinations (e.g., MTKs = Migration Trust Anchors instead of Migration Transport Keys) but provides no mitigation strategy.</a:t>
            </a:r>
            <a:endParaRPr lang="en-US" sz="1050" dirty="0"/>
          </a:p>
        </p:txBody>
      </p:sp>
      <p:sp>
        <p:nvSpPr>
          <p:cNvPr id="8" name="Text 6"/>
          <p:cNvSpPr/>
          <p:nvPr/>
        </p:nvSpPr>
        <p:spPr>
          <a:xfrm>
            <a:off x="411480" y="2423160"/>
            <a:ext cx="3749040" cy="27432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Risks in security context:</a:t>
            </a:r>
            <a:endParaRPr lang="en-US" sz="1100" dirty="0"/>
          </a:p>
        </p:txBody>
      </p:sp>
      <p:pic>
        <p:nvPicPr>
          <p:cNvPr id="9" name="Image 0" descr="preencoded.png">    </p:cNvPr>
          <p:cNvPicPr>
            <a:picLocks noChangeAspect="1"/>
          </p:cNvPicPr>
          <p:nvPr/>
        </p:nvPicPr>
        <p:blipFill>
          <a:blip r:embed="rId1"/>
          <a:stretch>
            <a:fillRect/>
          </a:stretch>
        </p:blipFill>
        <p:spPr>
          <a:xfrm>
            <a:off x="457200" y="2788920"/>
            <a:ext cx="274320" cy="274320"/>
          </a:xfrm>
          <a:prstGeom prst="rect">
            <a:avLst/>
          </a:prstGeom>
        </p:spPr>
      </p:pic>
      <p:sp>
        <p:nvSpPr>
          <p:cNvPr id="10" name="Text 7"/>
          <p:cNvSpPr/>
          <p:nvPr/>
        </p:nvSpPr>
        <p:spPr>
          <a:xfrm>
            <a:off x="822960" y="278892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False CVE attributions mislead engineers</a:t>
            </a:r>
            <a:endParaRPr lang="en-US" sz="1000" dirty="0"/>
          </a:p>
        </p:txBody>
      </p:sp>
      <p:pic>
        <p:nvPicPr>
          <p:cNvPr id="11" name="Image 1" descr="preencoded.png">    </p:cNvPr>
          <p:cNvPicPr>
            <a:picLocks noChangeAspect="1"/>
          </p:cNvPicPr>
          <p:nvPr/>
        </p:nvPicPr>
        <p:blipFill>
          <a:blip r:embed="rId2"/>
          <a:stretch>
            <a:fillRect/>
          </a:stretch>
        </p:blipFill>
        <p:spPr>
          <a:xfrm>
            <a:off x="457200" y="3200400"/>
            <a:ext cx="274320" cy="274320"/>
          </a:xfrm>
          <a:prstGeom prst="rect">
            <a:avLst/>
          </a:prstGeom>
        </p:spPr>
      </p:pic>
      <p:sp>
        <p:nvSpPr>
          <p:cNvPr id="12" name="Text 8"/>
          <p:cNvSpPr/>
          <p:nvPr/>
        </p:nvSpPr>
        <p:spPr>
          <a:xfrm>
            <a:off x="822960" y="320040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Invented mitigation steps could be followed</a:t>
            </a:r>
            <a:endParaRPr lang="en-US" sz="1000" dirty="0"/>
          </a:p>
        </p:txBody>
      </p:sp>
      <p:pic>
        <p:nvPicPr>
          <p:cNvPr id="13" name="Image 2" descr="preencoded.png">    </p:cNvPr>
          <p:cNvPicPr>
            <a:picLocks noChangeAspect="1"/>
          </p:cNvPicPr>
          <p:nvPr/>
        </p:nvPicPr>
        <p:blipFill>
          <a:blip r:embed="rId3"/>
          <a:stretch>
            <a:fillRect/>
          </a:stretch>
        </p:blipFill>
        <p:spPr>
          <a:xfrm>
            <a:off x="457200" y="3611880"/>
            <a:ext cx="274320" cy="274320"/>
          </a:xfrm>
          <a:prstGeom prst="rect">
            <a:avLst/>
          </a:prstGeom>
        </p:spPr>
      </p:pic>
      <p:sp>
        <p:nvSpPr>
          <p:cNvPr id="14" name="Text 9"/>
          <p:cNvSpPr/>
          <p:nvPr/>
        </p:nvSpPr>
        <p:spPr>
          <a:xfrm>
            <a:off x="822960" y="361188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Wrong component names cause misdiagnosis</a:t>
            </a:r>
            <a:endParaRPr lang="en-US" sz="1000" dirty="0"/>
          </a:p>
        </p:txBody>
      </p:sp>
      <p:pic>
        <p:nvPicPr>
          <p:cNvPr id="15" name="Image 3" descr="preencoded.png">    </p:cNvPr>
          <p:cNvPicPr>
            <a:picLocks noChangeAspect="1"/>
          </p:cNvPicPr>
          <p:nvPr/>
        </p:nvPicPr>
        <p:blipFill>
          <a:blip r:embed="rId4"/>
          <a:stretch>
            <a:fillRect/>
          </a:stretch>
        </p:blipFill>
        <p:spPr>
          <a:xfrm>
            <a:off x="457200" y="4023360"/>
            <a:ext cx="274320" cy="274320"/>
          </a:xfrm>
          <a:prstGeom prst="rect">
            <a:avLst/>
          </a:prstGeom>
        </p:spPr>
      </p:pic>
      <p:sp>
        <p:nvSpPr>
          <p:cNvPr id="16" name="Text 10"/>
          <p:cNvSpPr/>
          <p:nvPr/>
        </p:nvSpPr>
        <p:spPr>
          <a:xfrm>
            <a:off x="822960" y="402336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Security reports become unreliable</a:t>
            </a:r>
            <a:endParaRPr lang="en-US" sz="1000" dirty="0"/>
          </a:p>
        </p:txBody>
      </p:sp>
      <p:sp>
        <p:nvSpPr>
          <p:cNvPr id="17" name="Shape 11"/>
          <p:cNvSpPr/>
          <p:nvPr/>
        </p:nvSpPr>
        <p:spPr>
          <a:xfrm>
            <a:off x="4754880" y="1234440"/>
            <a:ext cx="4114800" cy="3566160"/>
          </a:xfrm>
          <a:prstGeom prst="roundRect">
            <a:avLst>
              <a:gd name="adj" fmla="val 3077"/>
            </a:avLst>
          </a:prstGeom>
          <a:solidFill>
            <a:srgbClr val="FFFAF0"/>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2"/>
          <p:cNvSpPr/>
          <p:nvPr/>
        </p:nvSpPr>
        <p:spPr>
          <a:xfrm>
            <a:off x="4892040" y="1353312"/>
            <a:ext cx="384048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GAP 3: Weak Evaluation Method</a:t>
            </a:r>
            <a:endParaRPr lang="en-US" sz="1300" dirty="0"/>
          </a:p>
        </p:txBody>
      </p:sp>
      <p:sp>
        <p:nvSpPr>
          <p:cNvPr id="19" name="Text 13"/>
          <p:cNvSpPr/>
          <p:nvPr/>
        </p:nvSpPr>
        <p:spPr>
          <a:xfrm>
            <a:off x="4892040" y="1737360"/>
            <a:ext cx="3749040" cy="59436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Binary +/- human evaluation by 2 coders is highly subjective. No standard NLP benchmarks (BLEU, ROUGE, BERTScore) or security-specific metrics were used.</a:t>
            </a:r>
            <a:endParaRPr lang="en-US" sz="1050" dirty="0"/>
          </a:p>
        </p:txBody>
      </p:sp>
      <p:sp>
        <p:nvSpPr>
          <p:cNvPr id="20" name="Text 14"/>
          <p:cNvSpPr/>
          <p:nvPr/>
        </p:nvSpPr>
        <p:spPr>
          <a:xfrm>
            <a:off x="4892040" y="2423160"/>
            <a:ext cx="3749040" cy="27432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Problems with current approach:</a:t>
            </a:r>
            <a:endParaRPr lang="en-US" sz="1100" dirty="0"/>
          </a:p>
        </p:txBody>
      </p:sp>
      <p:pic>
        <p:nvPicPr>
          <p:cNvPr id="21" name="Image 4" descr="preencoded.png">    </p:cNvPr>
          <p:cNvPicPr>
            <a:picLocks noChangeAspect="1"/>
          </p:cNvPicPr>
          <p:nvPr/>
        </p:nvPicPr>
        <p:blipFill>
          <a:blip r:embed="rId5"/>
          <a:stretch>
            <a:fillRect/>
          </a:stretch>
        </p:blipFill>
        <p:spPr>
          <a:xfrm>
            <a:off x="4919472" y="2788920"/>
            <a:ext cx="274320" cy="274320"/>
          </a:xfrm>
          <a:prstGeom prst="rect">
            <a:avLst/>
          </a:prstGeom>
        </p:spPr>
      </p:pic>
      <p:sp>
        <p:nvSpPr>
          <p:cNvPr id="22" name="Text 15"/>
          <p:cNvSpPr/>
          <p:nvPr/>
        </p:nvSpPr>
        <p:spPr>
          <a:xfrm>
            <a:off x="5257800" y="278892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Not reproducible by other researchers</a:t>
            </a:r>
            <a:endParaRPr lang="en-US" sz="1000" dirty="0"/>
          </a:p>
        </p:txBody>
      </p:sp>
      <p:pic>
        <p:nvPicPr>
          <p:cNvPr id="23" name="Image 5" descr="preencoded.png">    </p:cNvPr>
          <p:cNvPicPr>
            <a:picLocks noChangeAspect="1"/>
          </p:cNvPicPr>
          <p:nvPr/>
        </p:nvPicPr>
        <p:blipFill>
          <a:blip r:embed="rId6"/>
          <a:stretch>
            <a:fillRect/>
          </a:stretch>
        </p:blipFill>
        <p:spPr>
          <a:xfrm>
            <a:off x="4919472" y="3200400"/>
            <a:ext cx="274320" cy="274320"/>
          </a:xfrm>
          <a:prstGeom prst="rect">
            <a:avLst/>
          </a:prstGeom>
        </p:spPr>
      </p:pic>
      <p:sp>
        <p:nvSpPr>
          <p:cNvPr id="24" name="Text 16"/>
          <p:cNvSpPr/>
          <p:nvPr/>
        </p:nvSpPr>
        <p:spPr>
          <a:xfrm>
            <a:off x="5257800" y="320040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Inter-rater reliability not measured</a:t>
            </a:r>
            <a:endParaRPr lang="en-US" sz="1000" dirty="0"/>
          </a:p>
        </p:txBody>
      </p:sp>
      <p:pic>
        <p:nvPicPr>
          <p:cNvPr id="25" name="Image 6" descr="preencoded.png">    </p:cNvPr>
          <p:cNvPicPr>
            <a:picLocks noChangeAspect="1"/>
          </p:cNvPicPr>
          <p:nvPr/>
        </p:nvPicPr>
        <p:blipFill>
          <a:blip r:embed="rId7"/>
          <a:stretch>
            <a:fillRect/>
          </a:stretch>
        </p:blipFill>
        <p:spPr>
          <a:xfrm>
            <a:off x="4919472" y="3611880"/>
            <a:ext cx="274320" cy="274320"/>
          </a:xfrm>
          <a:prstGeom prst="rect">
            <a:avLst/>
          </a:prstGeom>
        </p:spPr>
      </p:pic>
      <p:sp>
        <p:nvSpPr>
          <p:cNvPr id="26" name="Text 17"/>
          <p:cNvSpPr/>
          <p:nvPr/>
        </p:nvSpPr>
        <p:spPr>
          <a:xfrm>
            <a:off x="5257800" y="361188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75%+ threshold is arbitrary</a:t>
            </a:r>
            <a:endParaRPr lang="en-US" sz="1000" dirty="0"/>
          </a:p>
        </p:txBody>
      </p:sp>
      <p:pic>
        <p:nvPicPr>
          <p:cNvPr id="27" name="Image 7" descr="preencoded.png">    </p:cNvPr>
          <p:cNvPicPr>
            <a:picLocks noChangeAspect="1"/>
          </p:cNvPicPr>
          <p:nvPr/>
        </p:nvPicPr>
        <p:blipFill>
          <a:blip r:embed="rId8"/>
          <a:stretch>
            <a:fillRect/>
          </a:stretch>
        </p:blipFill>
        <p:spPr>
          <a:xfrm>
            <a:off x="4919472" y="4023360"/>
            <a:ext cx="274320" cy="274320"/>
          </a:xfrm>
          <a:prstGeom prst="rect">
            <a:avLst/>
          </a:prstGeom>
        </p:spPr>
      </p:pic>
      <p:sp>
        <p:nvSpPr>
          <p:cNvPr id="28" name="Text 18"/>
          <p:cNvSpPr/>
          <p:nvPr/>
        </p:nvSpPr>
        <p:spPr>
          <a:xfrm>
            <a:off x="5257800" y="4023360"/>
            <a:ext cx="3383280" cy="32004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Can't compare with other systems</a:t>
            </a:r>
            <a:endParaRPr lang="en-US" sz="1000" dirty="0"/>
          </a:p>
        </p:txBody>
      </p:sp>
      <p:sp>
        <p:nvSpPr>
          <p:cNvPr id="29" name="Text 19"/>
          <p:cNvSpPr/>
          <p:nvPr/>
        </p:nvSpPr>
        <p:spPr>
          <a:xfrm>
            <a:off x="365760" y="4956048"/>
            <a:ext cx="8412480" cy="256032"/>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BLEU=Bilingual Evaluation Understudy | ROUGE=Recall-Oriented Understudy for Gisting Evaluation | BERTScore=BERT-based semantic similarity metric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C653"/>
          </a:solidFill>
          <a:ln w="12700">
            <a:solidFill>
              <a:srgbClr val="2DC653"/>
            </a:solidFill>
            <a:prstDash val="solid"/>
          </a:ln>
        </p:spPr>
      </p:sp>
      <p:sp>
        <p:nvSpPr>
          <p:cNvPr id="3" name="Text 1"/>
          <p:cNvSpPr/>
          <p:nvPr/>
        </p:nvSpPr>
        <p:spPr>
          <a:xfrm>
            <a:off x="457200" y="137160"/>
            <a:ext cx="8229600" cy="685800"/>
          </a:xfrm>
          <a:prstGeom prst="rect">
            <a:avLst/>
          </a:prstGeom>
          <a:noFill/>
          <a:ln/>
        </p:spPr>
        <p:txBody>
          <a:bodyPr wrap="square"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OUR PROPOSED IMPROVED SOLUTION</a:t>
            </a:r>
            <a:endParaRPr lang="en-US" sz="2400" dirty="0"/>
          </a:p>
        </p:txBody>
      </p:sp>
      <p:sp>
        <p:nvSpPr>
          <p:cNvPr id="4" name="Text 2"/>
          <p:cNvSpPr/>
          <p:nvPr/>
        </p:nvSpPr>
        <p:spPr>
          <a:xfrm>
            <a:off x="457200" y="1097280"/>
            <a:ext cx="8229600" cy="365760"/>
          </a:xfrm>
          <a:prstGeom prst="rect">
            <a:avLst/>
          </a:prstGeom>
          <a:noFill/>
          <a:ln/>
        </p:spPr>
        <p:txBody>
          <a:bodyPr wrap="square" rtlCol="0" anchor="ctr"/>
          <a:lstStyle/>
          <a:p>
            <a:pPr indent="0" marL="0">
              <a:buNone/>
            </a:pPr>
            <a:r>
              <a:rPr lang="en-US" sz="1500" b="1" dirty="0">
                <a:solidFill>
                  <a:srgbClr val="2DC653"/>
                </a:solidFill>
                <a:latin typeface="Calibri" pitchFamily="34" charset="0"/>
                <a:ea typeface="Calibri" pitchFamily="34" charset="-122"/>
                <a:cs typeface="Calibri" pitchFamily="34" charset="-120"/>
              </a:rPr>
              <a:t>Enhanced LLM-Based Threat Modeling with 6 Key Improvements</a:t>
            </a:r>
            <a:endParaRPr lang="en-US" sz="1500" dirty="0"/>
          </a:p>
        </p:txBody>
      </p:sp>
      <p:sp>
        <p:nvSpPr>
          <p:cNvPr id="5" name="Shape 3"/>
          <p:cNvSpPr/>
          <p:nvPr/>
        </p:nvSpPr>
        <p:spPr>
          <a:xfrm>
            <a:off x="274320" y="160020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65760" y="1691640"/>
            <a:ext cx="685800" cy="274320"/>
          </a:xfrm>
          <a:prstGeom prst="roundRect">
            <a:avLst>
              <a:gd name="adj" fmla="val 26667"/>
            </a:avLst>
          </a:prstGeom>
          <a:solidFill>
            <a:srgbClr val="2DC653"/>
          </a:solidFill>
          <a:ln w="12700">
            <a:solidFill>
              <a:srgbClr val="2DC653"/>
            </a:solidFill>
            <a:prstDash val="solid"/>
          </a:ln>
        </p:spPr>
      </p:sp>
      <p:sp>
        <p:nvSpPr>
          <p:cNvPr id="7" name="Text 5"/>
          <p:cNvSpPr/>
          <p:nvPr/>
        </p:nvSpPr>
        <p:spPr>
          <a:xfrm>
            <a:off x="365760" y="169164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1</a:t>
            </a:r>
            <a:endParaRPr lang="en-US" sz="900" dirty="0"/>
          </a:p>
        </p:txBody>
      </p:sp>
      <p:sp>
        <p:nvSpPr>
          <p:cNvPr id="8" name="Text 6"/>
          <p:cNvSpPr/>
          <p:nvPr/>
        </p:nvSpPr>
        <p:spPr>
          <a:xfrm>
            <a:off x="1143000" y="167335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Full MQ Coverage</a:t>
            </a:r>
            <a:endParaRPr lang="en-US" sz="1100" dirty="0"/>
          </a:p>
        </p:txBody>
      </p:sp>
      <p:sp>
        <p:nvSpPr>
          <p:cNvPr id="9" name="Text 7"/>
          <p:cNvSpPr/>
          <p:nvPr/>
        </p:nvSpPr>
        <p:spPr>
          <a:xfrm>
            <a:off x="365760" y="203911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Add MQ3 (mitigation suggestions) and MQ4 (coverage verification checklist)</a:t>
            </a:r>
            <a:endParaRPr lang="en-US" sz="950" dirty="0"/>
          </a:p>
        </p:txBody>
      </p:sp>
      <p:sp>
        <p:nvSpPr>
          <p:cNvPr id="10" name="Shape 8"/>
          <p:cNvSpPr/>
          <p:nvPr/>
        </p:nvSpPr>
        <p:spPr>
          <a:xfrm>
            <a:off x="274320" y="269748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365760" y="2788920"/>
            <a:ext cx="685800" cy="274320"/>
          </a:xfrm>
          <a:prstGeom prst="roundRect">
            <a:avLst>
              <a:gd name="adj" fmla="val 26667"/>
            </a:avLst>
          </a:prstGeom>
          <a:solidFill>
            <a:srgbClr val="00B4D8"/>
          </a:solidFill>
          <a:ln w="12700">
            <a:solidFill>
              <a:srgbClr val="00B4D8"/>
            </a:solidFill>
            <a:prstDash val="solid"/>
          </a:ln>
        </p:spPr>
      </p:sp>
      <p:sp>
        <p:nvSpPr>
          <p:cNvPr id="12" name="Text 10"/>
          <p:cNvSpPr/>
          <p:nvPr/>
        </p:nvSpPr>
        <p:spPr>
          <a:xfrm>
            <a:off x="365760" y="278892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2</a:t>
            </a:r>
            <a:endParaRPr lang="en-US" sz="900" dirty="0"/>
          </a:p>
        </p:txBody>
      </p:sp>
      <p:sp>
        <p:nvSpPr>
          <p:cNvPr id="13" name="Text 11"/>
          <p:cNvSpPr/>
          <p:nvPr/>
        </p:nvSpPr>
        <p:spPr>
          <a:xfrm>
            <a:off x="1143000" y="277063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Hallucination Guard</a:t>
            </a:r>
            <a:endParaRPr lang="en-US" sz="1100" dirty="0"/>
          </a:p>
        </p:txBody>
      </p:sp>
      <p:sp>
        <p:nvSpPr>
          <p:cNvPr id="14" name="Text 12"/>
          <p:cNvSpPr/>
          <p:nvPr/>
        </p:nvSpPr>
        <p:spPr>
          <a:xfrm>
            <a:off x="365760" y="313639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Add a secondary validation layer using NVD API cross-reference to verify LLM claims</a:t>
            </a:r>
            <a:endParaRPr lang="en-US" sz="950" dirty="0"/>
          </a:p>
        </p:txBody>
      </p:sp>
      <p:sp>
        <p:nvSpPr>
          <p:cNvPr id="15" name="Shape 13"/>
          <p:cNvSpPr/>
          <p:nvPr/>
        </p:nvSpPr>
        <p:spPr>
          <a:xfrm>
            <a:off x="274320" y="379476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365760" y="3886200"/>
            <a:ext cx="685800" cy="274320"/>
          </a:xfrm>
          <a:prstGeom prst="roundRect">
            <a:avLst>
              <a:gd name="adj" fmla="val 26667"/>
            </a:avLst>
          </a:prstGeom>
          <a:solidFill>
            <a:srgbClr val="FFB703"/>
          </a:solidFill>
          <a:ln w="12700">
            <a:solidFill>
              <a:srgbClr val="FFB703"/>
            </a:solidFill>
            <a:prstDash val="solid"/>
          </a:ln>
        </p:spPr>
      </p:sp>
      <p:sp>
        <p:nvSpPr>
          <p:cNvPr id="17" name="Text 15"/>
          <p:cNvSpPr/>
          <p:nvPr/>
        </p:nvSpPr>
        <p:spPr>
          <a:xfrm>
            <a:off x="365760" y="388620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3</a:t>
            </a:r>
            <a:endParaRPr lang="en-US" sz="900" dirty="0"/>
          </a:p>
        </p:txBody>
      </p:sp>
      <p:sp>
        <p:nvSpPr>
          <p:cNvPr id="18" name="Text 16"/>
          <p:cNvSpPr/>
          <p:nvPr/>
        </p:nvSpPr>
        <p:spPr>
          <a:xfrm>
            <a:off x="1143000" y="386791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Quantitative Eval</a:t>
            </a:r>
            <a:endParaRPr lang="en-US" sz="1100" dirty="0"/>
          </a:p>
        </p:txBody>
      </p:sp>
      <p:sp>
        <p:nvSpPr>
          <p:cNvPr id="19" name="Text 17"/>
          <p:cNvSpPr/>
          <p:nvPr/>
        </p:nvSpPr>
        <p:spPr>
          <a:xfrm>
            <a:off x="365760" y="423367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Implement BLEU + ROUGE + BERTScore automated benchmarking with ground-truth dataset</a:t>
            </a:r>
            <a:endParaRPr lang="en-US" sz="950" dirty="0"/>
          </a:p>
        </p:txBody>
      </p:sp>
      <p:sp>
        <p:nvSpPr>
          <p:cNvPr id="20" name="Shape 18"/>
          <p:cNvSpPr/>
          <p:nvPr/>
        </p:nvSpPr>
        <p:spPr>
          <a:xfrm>
            <a:off x="4800600" y="160020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892040" y="1691640"/>
            <a:ext cx="685800" cy="274320"/>
          </a:xfrm>
          <a:prstGeom prst="roundRect">
            <a:avLst>
              <a:gd name="adj" fmla="val 26667"/>
            </a:avLst>
          </a:prstGeom>
          <a:solidFill>
            <a:srgbClr val="0096C7"/>
          </a:solidFill>
          <a:ln w="12700">
            <a:solidFill>
              <a:srgbClr val="0096C7"/>
            </a:solidFill>
            <a:prstDash val="solid"/>
          </a:ln>
        </p:spPr>
      </p:sp>
      <p:sp>
        <p:nvSpPr>
          <p:cNvPr id="22" name="Text 20"/>
          <p:cNvSpPr/>
          <p:nvPr/>
        </p:nvSpPr>
        <p:spPr>
          <a:xfrm>
            <a:off x="4892040" y="169164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4</a:t>
            </a:r>
            <a:endParaRPr lang="en-US" sz="900" dirty="0"/>
          </a:p>
        </p:txBody>
      </p:sp>
      <p:sp>
        <p:nvSpPr>
          <p:cNvPr id="23" name="Text 21"/>
          <p:cNvSpPr/>
          <p:nvPr/>
        </p:nvSpPr>
        <p:spPr>
          <a:xfrm>
            <a:off x="5669280" y="167335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Async + Caching</a:t>
            </a:r>
            <a:endParaRPr lang="en-US" sz="1100" dirty="0"/>
          </a:p>
        </p:txBody>
      </p:sp>
      <p:sp>
        <p:nvSpPr>
          <p:cNvPr id="24" name="Text 22"/>
          <p:cNvSpPr/>
          <p:nvPr/>
        </p:nvSpPr>
        <p:spPr>
          <a:xfrm>
            <a:off x="4892040" y="203911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Redis caching for repeated queries + async parallel processing to cut response time &lt; 5s</a:t>
            </a:r>
            <a:endParaRPr lang="en-US" sz="950" dirty="0"/>
          </a:p>
        </p:txBody>
      </p:sp>
      <p:sp>
        <p:nvSpPr>
          <p:cNvPr id="25" name="Shape 23"/>
          <p:cNvSpPr/>
          <p:nvPr/>
        </p:nvSpPr>
        <p:spPr>
          <a:xfrm>
            <a:off x="4800600" y="269748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892040" y="2788920"/>
            <a:ext cx="685800" cy="274320"/>
          </a:xfrm>
          <a:prstGeom prst="roundRect">
            <a:avLst>
              <a:gd name="adj" fmla="val 26667"/>
            </a:avLst>
          </a:prstGeom>
          <a:solidFill>
            <a:srgbClr val="2DC653"/>
          </a:solidFill>
          <a:ln w="12700">
            <a:solidFill>
              <a:srgbClr val="2DC653"/>
            </a:solidFill>
            <a:prstDash val="solid"/>
          </a:ln>
        </p:spPr>
      </p:sp>
      <p:sp>
        <p:nvSpPr>
          <p:cNvPr id="27" name="Text 25"/>
          <p:cNvSpPr/>
          <p:nvPr/>
        </p:nvSpPr>
        <p:spPr>
          <a:xfrm>
            <a:off x="4892040" y="278892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5</a:t>
            </a:r>
            <a:endParaRPr lang="en-US" sz="900" dirty="0"/>
          </a:p>
        </p:txBody>
      </p:sp>
      <p:sp>
        <p:nvSpPr>
          <p:cNvPr id="28" name="Text 26"/>
          <p:cNvSpPr/>
          <p:nvPr/>
        </p:nvSpPr>
        <p:spPr>
          <a:xfrm>
            <a:off x="5669280" y="277063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Local/Private Mode</a:t>
            </a:r>
            <a:endParaRPr lang="en-US" sz="1100" dirty="0"/>
          </a:p>
        </p:txBody>
      </p:sp>
      <p:sp>
        <p:nvSpPr>
          <p:cNvPr id="29" name="Text 27"/>
          <p:cNvSpPr/>
          <p:nvPr/>
        </p:nvSpPr>
        <p:spPr>
          <a:xfrm>
            <a:off x="4892040" y="313639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Support fully local deployment with Ollama for privacy-sensitive environments</a:t>
            </a:r>
            <a:endParaRPr lang="en-US" sz="950" dirty="0"/>
          </a:p>
        </p:txBody>
      </p:sp>
      <p:sp>
        <p:nvSpPr>
          <p:cNvPr id="30" name="Shape 28"/>
          <p:cNvSpPr/>
          <p:nvPr/>
        </p:nvSpPr>
        <p:spPr>
          <a:xfrm>
            <a:off x="4800600" y="3794760"/>
            <a:ext cx="4206240" cy="960120"/>
          </a:xfrm>
          <a:prstGeom prst="roundRect">
            <a:avLst>
              <a:gd name="adj" fmla="val 11429"/>
            </a:avLst>
          </a:prstGeom>
          <a:solidFill>
            <a:srgbClr val="122212"/>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4892040" y="3886200"/>
            <a:ext cx="685800" cy="274320"/>
          </a:xfrm>
          <a:prstGeom prst="roundRect">
            <a:avLst>
              <a:gd name="adj" fmla="val 26667"/>
            </a:avLst>
          </a:prstGeom>
          <a:solidFill>
            <a:srgbClr val="FFB703"/>
          </a:solidFill>
          <a:ln w="12700">
            <a:solidFill>
              <a:srgbClr val="FFB703"/>
            </a:solidFill>
            <a:prstDash val="solid"/>
          </a:ln>
        </p:spPr>
      </p:sp>
      <p:sp>
        <p:nvSpPr>
          <p:cNvPr id="32" name="Text 30"/>
          <p:cNvSpPr/>
          <p:nvPr/>
        </p:nvSpPr>
        <p:spPr>
          <a:xfrm>
            <a:off x="4892040" y="3886200"/>
            <a:ext cx="685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 6</a:t>
            </a:r>
            <a:endParaRPr lang="en-US" sz="900" dirty="0"/>
          </a:p>
        </p:txBody>
      </p:sp>
      <p:sp>
        <p:nvSpPr>
          <p:cNvPr id="33" name="Text 31"/>
          <p:cNvSpPr/>
          <p:nvPr/>
        </p:nvSpPr>
        <p:spPr>
          <a:xfrm>
            <a:off x="5669280" y="3867912"/>
            <a:ext cx="32461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Multi-format Input</a:t>
            </a:r>
            <a:endParaRPr lang="en-US" sz="1100" dirty="0"/>
          </a:p>
        </p:txBody>
      </p:sp>
      <p:sp>
        <p:nvSpPr>
          <p:cNvPr id="34" name="Text 32"/>
          <p:cNvSpPr/>
          <p:nvPr/>
        </p:nvSpPr>
        <p:spPr>
          <a:xfrm>
            <a:off x="4892040" y="4233672"/>
            <a:ext cx="4005072" cy="411480"/>
          </a:xfrm>
          <a:prstGeom prst="rect">
            <a:avLst/>
          </a:prstGeom>
          <a:noFill/>
          <a:ln/>
        </p:spPr>
        <p:txBody>
          <a:bodyPr wrap="square" lIns="0" tIns="0" rIns="0" bIns="0" rtlCol="0" anchor="ctr"/>
          <a:lstStyle/>
          <a:p>
            <a:pPr indent="0" marL="0">
              <a:buNone/>
            </a:pPr>
            <a:r>
              <a:rPr lang="en-US" sz="950" dirty="0">
                <a:solidFill>
                  <a:srgbClr val="AADDAA"/>
                </a:solidFill>
                <a:latin typeface="Calibri" pitchFamily="34" charset="0"/>
                <a:ea typeface="Calibri" pitchFamily="34" charset="-122"/>
                <a:cs typeface="Calibri" pitchFamily="34" charset="-120"/>
              </a:rPr>
              <a:t>Extend ingestion to handle YAML configs, JSON specs, code files, and architecture images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Improved System Architecture</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Enhanced pipeline with validation and full MQ coverage</a:t>
            </a:r>
            <a:endParaRPr lang="en-US" sz="1800" dirty="0"/>
          </a:p>
        </p:txBody>
      </p:sp>
      <p:sp>
        <p:nvSpPr>
          <p:cNvPr id="5" name="Shape 3"/>
          <p:cNvSpPr/>
          <p:nvPr/>
        </p:nvSpPr>
        <p:spPr>
          <a:xfrm>
            <a:off x="137160" y="1417320"/>
            <a:ext cx="178308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137160" y="1417320"/>
            <a:ext cx="1783080" cy="274320"/>
          </a:xfrm>
          <a:prstGeom prst="rect">
            <a:avLst/>
          </a:prstGeom>
          <a:solidFill>
            <a:srgbClr val="00B4D8"/>
          </a:solidFill>
          <a:ln w="12700">
            <a:solidFill>
              <a:srgbClr val="00B4D8"/>
            </a:solidFill>
            <a:prstDash val="solid"/>
          </a:ln>
        </p:spPr>
      </p:sp>
      <p:sp>
        <p:nvSpPr>
          <p:cNvPr id="7" name="Text 5"/>
          <p:cNvSpPr/>
          <p:nvPr/>
        </p:nvSpPr>
        <p:spPr>
          <a:xfrm>
            <a:off x="137160" y="1417320"/>
            <a:ext cx="1783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Multi-format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8" name="Text 6"/>
          <p:cNvSpPr/>
          <p:nvPr/>
        </p:nvSpPr>
        <p:spPr>
          <a:xfrm>
            <a:off x="182880" y="1737360"/>
            <a:ext cx="1691640" cy="5943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PDF, YAML, JSON,</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Code, Images</a:t>
            </a:r>
            <a:endParaRPr lang="en-US" sz="900" dirty="0"/>
          </a:p>
        </p:txBody>
      </p:sp>
      <p:sp>
        <p:nvSpPr>
          <p:cNvPr id="9" name="Text 7"/>
          <p:cNvSpPr/>
          <p:nvPr/>
        </p:nvSpPr>
        <p:spPr>
          <a:xfrm>
            <a:off x="1920240" y="1874520"/>
            <a:ext cx="365760" cy="365760"/>
          </a:xfrm>
          <a:prstGeom prst="rect">
            <a:avLst/>
          </a:prstGeom>
          <a:noFill/>
          <a:ln/>
        </p:spPr>
        <p:txBody>
          <a:bodyPr wrap="square" lIns="0" tIns="0" rIns="0" bIns="0" rtlCol="0" anchor="ctr"/>
          <a:lstStyle/>
          <a:p>
            <a:pPr algn="ctr" indent="0" marL="0">
              <a:buNone/>
            </a:pPr>
            <a:r>
              <a:rPr lang="en-US" sz="1800" b="1" dirty="0">
                <a:solidFill>
                  <a:srgbClr val="00B4D8"/>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148840" y="1417320"/>
            <a:ext cx="178308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2148840" y="1417320"/>
            <a:ext cx="1783080" cy="274320"/>
          </a:xfrm>
          <a:prstGeom prst="rect">
            <a:avLst/>
          </a:prstGeom>
          <a:solidFill>
            <a:srgbClr val="FFB703"/>
          </a:solidFill>
          <a:ln w="12700">
            <a:solidFill>
              <a:srgbClr val="FFB703"/>
            </a:solidFill>
            <a:prstDash val="solid"/>
          </a:ln>
        </p:spPr>
      </p:sp>
      <p:sp>
        <p:nvSpPr>
          <p:cNvPr id="12" name="Text 10"/>
          <p:cNvSpPr/>
          <p:nvPr/>
        </p:nvSpPr>
        <p:spPr>
          <a:xfrm>
            <a:off x="2148840" y="1417320"/>
            <a:ext cx="1783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NLP</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Processing</a:t>
            </a:r>
            <a:endParaRPr lang="en-US" sz="900" dirty="0"/>
          </a:p>
        </p:txBody>
      </p:sp>
      <p:sp>
        <p:nvSpPr>
          <p:cNvPr id="13" name="Text 11"/>
          <p:cNvSpPr/>
          <p:nvPr/>
        </p:nvSpPr>
        <p:spPr>
          <a:xfrm>
            <a:off x="2194560" y="1737360"/>
            <a:ext cx="1691640" cy="5943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KeyBERT + spaCy</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NER + chunking</a:t>
            </a:r>
            <a:endParaRPr lang="en-US" sz="900" dirty="0"/>
          </a:p>
        </p:txBody>
      </p:sp>
      <p:sp>
        <p:nvSpPr>
          <p:cNvPr id="14" name="Text 12"/>
          <p:cNvSpPr/>
          <p:nvPr/>
        </p:nvSpPr>
        <p:spPr>
          <a:xfrm>
            <a:off x="3931920" y="1874520"/>
            <a:ext cx="365760" cy="365760"/>
          </a:xfrm>
          <a:prstGeom prst="rect">
            <a:avLst/>
          </a:prstGeom>
          <a:noFill/>
          <a:ln/>
        </p:spPr>
        <p:txBody>
          <a:bodyPr wrap="square" lIns="0" tIns="0" rIns="0" bIns="0" rtlCol="0" anchor="ctr"/>
          <a:lstStyle/>
          <a:p>
            <a:pPr algn="ctr" indent="0" marL="0">
              <a:buNone/>
            </a:pPr>
            <a:r>
              <a:rPr lang="en-US" sz="1800" b="1" dirty="0">
                <a:solidFill>
                  <a:srgbClr val="00B4D8"/>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160520" y="1417320"/>
            <a:ext cx="178308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160520" y="1417320"/>
            <a:ext cx="1783080" cy="274320"/>
          </a:xfrm>
          <a:prstGeom prst="rect">
            <a:avLst/>
          </a:prstGeom>
          <a:solidFill>
            <a:srgbClr val="0096C7"/>
          </a:solidFill>
          <a:ln w="12700">
            <a:solidFill>
              <a:srgbClr val="0096C7"/>
            </a:solidFill>
            <a:prstDash val="solid"/>
          </a:ln>
        </p:spPr>
      </p:sp>
      <p:sp>
        <p:nvSpPr>
          <p:cNvPr id="17" name="Text 15"/>
          <p:cNvSpPr/>
          <p:nvPr/>
        </p:nvSpPr>
        <p:spPr>
          <a:xfrm>
            <a:off x="4160520" y="1417320"/>
            <a:ext cx="1783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Vector DB</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(Local/Cloud)</a:t>
            </a:r>
            <a:endParaRPr lang="en-US" sz="900" dirty="0"/>
          </a:p>
        </p:txBody>
      </p:sp>
      <p:sp>
        <p:nvSpPr>
          <p:cNvPr id="18" name="Text 16"/>
          <p:cNvSpPr/>
          <p:nvPr/>
        </p:nvSpPr>
        <p:spPr>
          <a:xfrm>
            <a:off x="4206240" y="1737360"/>
            <a:ext cx="1691640" cy="5943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Chroma (local) or</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Pinecone (cloud)</a:t>
            </a:r>
            <a:endParaRPr lang="en-US" sz="900" dirty="0"/>
          </a:p>
        </p:txBody>
      </p:sp>
      <p:sp>
        <p:nvSpPr>
          <p:cNvPr id="19" name="Text 17"/>
          <p:cNvSpPr/>
          <p:nvPr/>
        </p:nvSpPr>
        <p:spPr>
          <a:xfrm>
            <a:off x="5943600" y="1874520"/>
            <a:ext cx="365760" cy="365760"/>
          </a:xfrm>
          <a:prstGeom prst="rect">
            <a:avLst/>
          </a:prstGeom>
          <a:noFill/>
          <a:ln/>
        </p:spPr>
        <p:txBody>
          <a:bodyPr wrap="square" lIns="0" tIns="0" rIns="0" bIns="0" rtlCol="0" anchor="ctr"/>
          <a:lstStyle/>
          <a:p>
            <a:pPr algn="ctr" indent="0" marL="0">
              <a:buNone/>
            </a:pPr>
            <a:r>
              <a:rPr lang="en-US" sz="1800" b="1" dirty="0">
                <a:solidFill>
                  <a:srgbClr val="00B4D8"/>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6172200" y="1417320"/>
            <a:ext cx="178308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6172200" y="1417320"/>
            <a:ext cx="1783080" cy="274320"/>
          </a:xfrm>
          <a:prstGeom prst="rect">
            <a:avLst/>
          </a:prstGeom>
          <a:solidFill>
            <a:srgbClr val="2DC653"/>
          </a:solidFill>
          <a:ln w="12700">
            <a:solidFill>
              <a:srgbClr val="2DC653"/>
            </a:solidFill>
            <a:prstDash val="solid"/>
          </a:ln>
        </p:spPr>
      </p:sp>
      <p:sp>
        <p:nvSpPr>
          <p:cNvPr id="22" name="Text 20"/>
          <p:cNvSpPr/>
          <p:nvPr/>
        </p:nvSpPr>
        <p:spPr>
          <a:xfrm>
            <a:off x="6172200" y="1417320"/>
            <a:ext cx="1783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LLM Engine</a:t>
            </a:r>
            <a:endParaRPr lang="en-US" sz="900" dirty="0"/>
          </a:p>
        </p:txBody>
      </p:sp>
      <p:sp>
        <p:nvSpPr>
          <p:cNvPr id="23" name="Text 21"/>
          <p:cNvSpPr/>
          <p:nvPr/>
        </p:nvSpPr>
        <p:spPr>
          <a:xfrm>
            <a:off x="6217920" y="1737360"/>
            <a:ext cx="1691640" cy="5943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Llama 3 / GPT-4</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or Ollama local</a:t>
            </a:r>
            <a:endParaRPr lang="en-US" sz="900" dirty="0"/>
          </a:p>
        </p:txBody>
      </p:sp>
      <p:sp>
        <p:nvSpPr>
          <p:cNvPr id="24" name="Shape 22"/>
          <p:cNvSpPr/>
          <p:nvPr/>
        </p:nvSpPr>
        <p:spPr>
          <a:xfrm>
            <a:off x="137160" y="29718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137160" y="2971800"/>
            <a:ext cx="1920240" cy="228600"/>
          </a:xfrm>
          <a:prstGeom prst="rect">
            <a:avLst/>
          </a:prstGeom>
          <a:solidFill>
            <a:srgbClr val="00B4D8"/>
          </a:solidFill>
          <a:ln w="12700">
            <a:solidFill>
              <a:srgbClr val="00B4D8"/>
            </a:solidFill>
            <a:prstDash val="solid"/>
          </a:ln>
        </p:spPr>
      </p:sp>
      <p:sp>
        <p:nvSpPr>
          <p:cNvPr id="26" name="Text 24"/>
          <p:cNvSpPr/>
          <p:nvPr/>
        </p:nvSpPr>
        <p:spPr>
          <a:xfrm>
            <a:off x="137160" y="2971800"/>
            <a:ext cx="19202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MQ1 Answer</a:t>
            </a:r>
            <a:endParaRPr lang="en-US" sz="850" dirty="0"/>
          </a:p>
        </p:txBody>
      </p:sp>
      <p:sp>
        <p:nvSpPr>
          <p:cNvPr id="27" name="Text 25"/>
          <p:cNvSpPr/>
          <p:nvPr/>
        </p:nvSpPr>
        <p:spPr>
          <a:xfrm>
            <a:off x="182880" y="3246120"/>
            <a:ext cx="1828800" cy="59436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System components,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data flows, architecture</a:t>
            </a:r>
            <a:endParaRPr lang="en-US" sz="950" dirty="0"/>
          </a:p>
        </p:txBody>
      </p:sp>
      <p:sp>
        <p:nvSpPr>
          <p:cNvPr id="28" name="Shape 26"/>
          <p:cNvSpPr/>
          <p:nvPr/>
        </p:nvSpPr>
        <p:spPr>
          <a:xfrm>
            <a:off x="2313432" y="29718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Shape 27"/>
          <p:cNvSpPr/>
          <p:nvPr/>
        </p:nvSpPr>
        <p:spPr>
          <a:xfrm>
            <a:off x="2313432" y="2971800"/>
            <a:ext cx="1920240" cy="228600"/>
          </a:xfrm>
          <a:prstGeom prst="rect">
            <a:avLst/>
          </a:prstGeom>
          <a:solidFill>
            <a:srgbClr val="E63946"/>
          </a:solidFill>
          <a:ln w="12700">
            <a:solidFill>
              <a:srgbClr val="E63946"/>
            </a:solidFill>
            <a:prstDash val="solid"/>
          </a:ln>
        </p:spPr>
      </p:sp>
      <p:sp>
        <p:nvSpPr>
          <p:cNvPr id="30" name="Text 28"/>
          <p:cNvSpPr/>
          <p:nvPr/>
        </p:nvSpPr>
        <p:spPr>
          <a:xfrm>
            <a:off x="2313432" y="2971800"/>
            <a:ext cx="19202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MQ2 Answer</a:t>
            </a:r>
            <a:endParaRPr lang="en-US" sz="850" dirty="0"/>
          </a:p>
        </p:txBody>
      </p:sp>
      <p:sp>
        <p:nvSpPr>
          <p:cNvPr id="31" name="Text 29"/>
          <p:cNvSpPr/>
          <p:nvPr/>
        </p:nvSpPr>
        <p:spPr>
          <a:xfrm>
            <a:off x="2359152" y="3246120"/>
            <a:ext cx="1828800" cy="59436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CVE-backed threat</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identification</a:t>
            </a:r>
            <a:endParaRPr lang="en-US" sz="950" dirty="0"/>
          </a:p>
        </p:txBody>
      </p:sp>
      <p:sp>
        <p:nvSpPr>
          <p:cNvPr id="32" name="Shape 30"/>
          <p:cNvSpPr/>
          <p:nvPr/>
        </p:nvSpPr>
        <p:spPr>
          <a:xfrm>
            <a:off x="4489704" y="29718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4489704" y="2971800"/>
            <a:ext cx="1920240" cy="228600"/>
          </a:xfrm>
          <a:prstGeom prst="rect">
            <a:avLst/>
          </a:prstGeom>
          <a:solidFill>
            <a:srgbClr val="FFB703"/>
          </a:solidFill>
          <a:ln w="12700">
            <a:solidFill>
              <a:srgbClr val="FFB703"/>
            </a:solidFill>
            <a:prstDash val="solid"/>
          </a:ln>
        </p:spPr>
      </p:sp>
      <p:sp>
        <p:nvSpPr>
          <p:cNvPr id="34" name="Text 32"/>
          <p:cNvSpPr/>
          <p:nvPr/>
        </p:nvSpPr>
        <p:spPr>
          <a:xfrm>
            <a:off x="4489704" y="2971800"/>
            <a:ext cx="19202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MQ3 Answer ★NEW</a:t>
            </a:r>
            <a:endParaRPr lang="en-US" sz="850" dirty="0"/>
          </a:p>
        </p:txBody>
      </p:sp>
      <p:sp>
        <p:nvSpPr>
          <p:cNvPr id="35" name="Text 33"/>
          <p:cNvSpPr/>
          <p:nvPr/>
        </p:nvSpPr>
        <p:spPr>
          <a:xfrm>
            <a:off x="4535424" y="3246120"/>
            <a:ext cx="1828800" cy="59436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Mitigation steps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per identified threat</a:t>
            </a:r>
            <a:endParaRPr lang="en-US" sz="950" dirty="0"/>
          </a:p>
        </p:txBody>
      </p:sp>
      <p:sp>
        <p:nvSpPr>
          <p:cNvPr id="36" name="Shape 34"/>
          <p:cNvSpPr/>
          <p:nvPr/>
        </p:nvSpPr>
        <p:spPr>
          <a:xfrm>
            <a:off x="6665976" y="29718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7" name="Shape 35"/>
          <p:cNvSpPr/>
          <p:nvPr/>
        </p:nvSpPr>
        <p:spPr>
          <a:xfrm>
            <a:off x="6665976" y="2971800"/>
            <a:ext cx="1920240" cy="228600"/>
          </a:xfrm>
          <a:prstGeom prst="rect">
            <a:avLst/>
          </a:prstGeom>
          <a:solidFill>
            <a:srgbClr val="2DC653"/>
          </a:solidFill>
          <a:ln w="12700">
            <a:solidFill>
              <a:srgbClr val="2DC653"/>
            </a:solidFill>
            <a:prstDash val="solid"/>
          </a:ln>
        </p:spPr>
      </p:sp>
      <p:sp>
        <p:nvSpPr>
          <p:cNvPr id="38" name="Text 36"/>
          <p:cNvSpPr/>
          <p:nvPr/>
        </p:nvSpPr>
        <p:spPr>
          <a:xfrm>
            <a:off x="6665976" y="2971800"/>
            <a:ext cx="19202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MQ4 Check ★NEW</a:t>
            </a:r>
            <a:endParaRPr lang="en-US" sz="850" dirty="0"/>
          </a:p>
        </p:txBody>
      </p:sp>
      <p:sp>
        <p:nvSpPr>
          <p:cNvPr id="39" name="Text 37"/>
          <p:cNvSpPr/>
          <p:nvPr/>
        </p:nvSpPr>
        <p:spPr>
          <a:xfrm>
            <a:off x="6711696" y="3246120"/>
            <a:ext cx="1828800" cy="59436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Coverage verification</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checklist score</a:t>
            </a:r>
            <a:endParaRPr lang="en-US" sz="950" dirty="0"/>
          </a:p>
        </p:txBody>
      </p:sp>
      <p:sp>
        <p:nvSpPr>
          <p:cNvPr id="40" name="Shape 38"/>
          <p:cNvSpPr/>
          <p:nvPr/>
        </p:nvSpPr>
        <p:spPr>
          <a:xfrm>
            <a:off x="137160" y="4114800"/>
            <a:ext cx="4297680" cy="777240"/>
          </a:xfrm>
          <a:prstGeom prst="roundRect">
            <a:avLst>
              <a:gd name="adj" fmla="val 14118"/>
            </a:avLst>
          </a:prstGeom>
          <a:solidFill>
            <a:srgbClr val="FFF5F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1" name="Text 39"/>
          <p:cNvSpPr/>
          <p:nvPr/>
        </p:nvSpPr>
        <p:spPr>
          <a:xfrm>
            <a:off x="274320" y="4187952"/>
            <a:ext cx="4023360" cy="27432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NEW: Hallucination Validation Layer</a:t>
            </a:r>
            <a:endParaRPr lang="en-US" sz="1100" dirty="0"/>
          </a:p>
        </p:txBody>
      </p:sp>
      <p:sp>
        <p:nvSpPr>
          <p:cNvPr id="42" name="Text 40"/>
          <p:cNvSpPr/>
          <p:nvPr/>
        </p:nvSpPr>
        <p:spPr>
          <a:xfrm>
            <a:off x="274320" y="4480560"/>
            <a:ext cx="40233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Cross-references LLM claims against NVD API + Redis cache for factual verification</a:t>
            </a:r>
            <a:endParaRPr lang="en-US" sz="1000" dirty="0"/>
          </a:p>
        </p:txBody>
      </p:sp>
      <p:sp>
        <p:nvSpPr>
          <p:cNvPr id="43" name="Shape 41"/>
          <p:cNvSpPr/>
          <p:nvPr/>
        </p:nvSpPr>
        <p:spPr>
          <a:xfrm>
            <a:off x="4663440" y="4114800"/>
            <a:ext cx="4297680" cy="777240"/>
          </a:xfrm>
          <a:prstGeom prst="roundRect">
            <a:avLst>
              <a:gd name="adj" fmla="val 14118"/>
            </a:avLst>
          </a:prstGeom>
          <a:solidFill>
            <a:srgbClr val="F5FFF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4" name="Text 42"/>
          <p:cNvSpPr/>
          <p:nvPr/>
        </p:nvSpPr>
        <p:spPr>
          <a:xfrm>
            <a:off x="4800600" y="4187952"/>
            <a:ext cx="4023360" cy="27432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 NEW: Automated Benchmark Evaluation</a:t>
            </a:r>
            <a:endParaRPr lang="en-US" sz="1100" dirty="0"/>
          </a:p>
        </p:txBody>
      </p:sp>
      <p:sp>
        <p:nvSpPr>
          <p:cNvPr id="45" name="Text 43"/>
          <p:cNvSpPr/>
          <p:nvPr/>
        </p:nvSpPr>
        <p:spPr>
          <a:xfrm>
            <a:off x="4800600" y="4480560"/>
            <a:ext cx="40233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BLEU + ROUGE-L + BERTScore computed automatically vs. expert ground truth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MQ3 Mitigation Generator</a:t>
            </a:r>
            <a:endParaRPr lang="en-US" sz="2600" dirty="0"/>
          </a:p>
        </p:txBody>
      </p:sp>
      <p:sp>
        <p:nvSpPr>
          <p:cNvPr id="4" name="Text 2"/>
          <p:cNvSpPr/>
          <p:nvPr/>
        </p:nvSpPr>
        <p:spPr>
          <a:xfrm>
            <a:off x="457200" y="1115568"/>
            <a:ext cx="8229600" cy="45720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Our solution to Gap 1</a:t>
            </a:r>
            <a:endParaRPr lang="en-US" sz="1800" dirty="0"/>
          </a:p>
        </p:txBody>
      </p:sp>
      <p:sp>
        <p:nvSpPr>
          <p:cNvPr id="5" name="Text 3"/>
          <p:cNvSpPr/>
          <p:nvPr/>
        </p:nvSpPr>
        <p:spPr>
          <a:xfrm>
            <a:off x="457200" y="1600200"/>
            <a:ext cx="8229600" cy="41148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For each identified threat (from MQ2), our system generates structured mitigation recommendations:</a:t>
            </a:r>
            <a:endParaRPr lang="en-US" sz="1200" dirty="0"/>
          </a:p>
        </p:txBody>
      </p:sp>
      <p:sp>
        <p:nvSpPr>
          <p:cNvPr id="6" name="Shape 4"/>
          <p:cNvSpPr/>
          <p:nvPr/>
        </p:nvSpPr>
        <p:spPr>
          <a:xfrm>
            <a:off x="365760" y="1645920"/>
            <a:ext cx="8412480" cy="548640"/>
          </a:xfrm>
          <a:prstGeom prst="roundRect">
            <a:avLst>
              <a:gd name="adj" fmla="val 2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57200" y="1719072"/>
            <a:ext cx="411480" cy="411480"/>
          </a:xfrm>
          <a:prstGeom prst="ellipse">
            <a:avLst/>
          </a:prstGeom>
          <a:solidFill>
            <a:srgbClr val="00B4D8"/>
          </a:solidFill>
          <a:ln w="12700">
            <a:solidFill>
              <a:srgbClr val="00B4D8"/>
            </a:solidFill>
            <a:prstDash val="solid"/>
          </a:ln>
        </p:spPr>
      </p:sp>
      <p:sp>
        <p:nvSpPr>
          <p:cNvPr id="8" name="Text 6"/>
          <p:cNvSpPr/>
          <p:nvPr/>
        </p:nvSpPr>
        <p:spPr>
          <a:xfrm>
            <a:off x="457200" y="1719072"/>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005840" y="1682496"/>
            <a:ext cx="2011680" cy="45720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Parse MQ2 Output:</a:t>
            </a:r>
            <a:endParaRPr lang="en-US" sz="1100" dirty="0"/>
          </a:p>
        </p:txBody>
      </p:sp>
      <p:sp>
        <p:nvSpPr>
          <p:cNvPr id="10" name="Text 8"/>
          <p:cNvSpPr/>
          <p:nvPr/>
        </p:nvSpPr>
        <p:spPr>
          <a:xfrm>
            <a:off x="2926080" y="1682496"/>
            <a:ext cx="56692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Extract structured threat items: threat name, CVE ID, affected component, severity score (CVSS)</a:t>
            </a:r>
            <a:endParaRPr lang="en-US" sz="1000" dirty="0"/>
          </a:p>
        </p:txBody>
      </p:sp>
      <p:sp>
        <p:nvSpPr>
          <p:cNvPr id="11" name="Shape 9"/>
          <p:cNvSpPr/>
          <p:nvPr/>
        </p:nvSpPr>
        <p:spPr>
          <a:xfrm>
            <a:off x="365760" y="2304288"/>
            <a:ext cx="8412480" cy="548640"/>
          </a:xfrm>
          <a:prstGeom prst="roundRect">
            <a:avLst>
              <a:gd name="adj" fmla="val 2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57200" y="2377440"/>
            <a:ext cx="411480" cy="411480"/>
          </a:xfrm>
          <a:prstGeom prst="ellipse">
            <a:avLst/>
          </a:prstGeom>
          <a:solidFill>
            <a:srgbClr val="00B4D8"/>
          </a:solidFill>
          <a:ln w="12700">
            <a:solidFill>
              <a:srgbClr val="00B4D8"/>
            </a:solidFill>
            <a:prstDash val="solid"/>
          </a:ln>
        </p:spPr>
      </p:sp>
      <p:sp>
        <p:nvSpPr>
          <p:cNvPr id="13" name="Text 11"/>
          <p:cNvSpPr/>
          <p:nvPr/>
        </p:nvSpPr>
        <p:spPr>
          <a:xfrm>
            <a:off x="457200" y="237744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005840" y="2340864"/>
            <a:ext cx="2011680" cy="45720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Build Mitigation Prompt:</a:t>
            </a:r>
            <a:endParaRPr lang="en-US" sz="1100" dirty="0"/>
          </a:p>
        </p:txBody>
      </p:sp>
      <p:sp>
        <p:nvSpPr>
          <p:cNvPr id="15" name="Text 13"/>
          <p:cNvSpPr/>
          <p:nvPr/>
        </p:nvSpPr>
        <p:spPr>
          <a:xfrm>
            <a:off x="2926080" y="2340864"/>
            <a:ext cx="56692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Create a targeted LLM prompt: 'Given threat [X] with CVE [Y] affecting [Z], provide: (1) immediate mitigation, (2) long-term fix, (3) STRIDE category, (4) priority level'</a:t>
            </a:r>
            <a:endParaRPr lang="en-US" sz="1000" dirty="0"/>
          </a:p>
        </p:txBody>
      </p:sp>
      <p:sp>
        <p:nvSpPr>
          <p:cNvPr id="16" name="Shape 14"/>
          <p:cNvSpPr/>
          <p:nvPr/>
        </p:nvSpPr>
        <p:spPr>
          <a:xfrm>
            <a:off x="365760" y="2962656"/>
            <a:ext cx="8412480" cy="548640"/>
          </a:xfrm>
          <a:prstGeom prst="roundRect">
            <a:avLst>
              <a:gd name="adj" fmla="val 2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57200" y="3035808"/>
            <a:ext cx="411480" cy="411480"/>
          </a:xfrm>
          <a:prstGeom prst="ellipse">
            <a:avLst/>
          </a:prstGeom>
          <a:solidFill>
            <a:srgbClr val="00B4D8"/>
          </a:solidFill>
          <a:ln w="12700">
            <a:solidFill>
              <a:srgbClr val="00B4D8"/>
            </a:solidFill>
            <a:prstDash val="solid"/>
          </a:ln>
        </p:spPr>
      </p:sp>
      <p:sp>
        <p:nvSpPr>
          <p:cNvPr id="18" name="Text 16"/>
          <p:cNvSpPr/>
          <p:nvPr/>
        </p:nvSpPr>
        <p:spPr>
          <a:xfrm>
            <a:off x="457200" y="3035808"/>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005840" y="2999232"/>
            <a:ext cx="2011680" cy="45720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Retrieve Mitigation Context:</a:t>
            </a:r>
            <a:endParaRPr lang="en-US" sz="1100" dirty="0"/>
          </a:p>
        </p:txBody>
      </p:sp>
      <p:sp>
        <p:nvSpPr>
          <p:cNvPr id="20" name="Text 18"/>
          <p:cNvSpPr/>
          <p:nvPr/>
        </p:nvSpPr>
        <p:spPr>
          <a:xfrm>
            <a:off x="2926080" y="2999232"/>
            <a:ext cx="56692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RAG retrieves relevant security standards (NIST, OWASP) chunks from a pre-indexed standards knowledge base</a:t>
            </a:r>
            <a:endParaRPr lang="en-US" sz="1000" dirty="0"/>
          </a:p>
        </p:txBody>
      </p:sp>
      <p:sp>
        <p:nvSpPr>
          <p:cNvPr id="21" name="Shape 19"/>
          <p:cNvSpPr/>
          <p:nvPr/>
        </p:nvSpPr>
        <p:spPr>
          <a:xfrm>
            <a:off x="365760" y="3621024"/>
            <a:ext cx="8412480" cy="548640"/>
          </a:xfrm>
          <a:prstGeom prst="roundRect">
            <a:avLst>
              <a:gd name="adj" fmla="val 20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457200" y="3694176"/>
            <a:ext cx="411480" cy="411480"/>
          </a:xfrm>
          <a:prstGeom prst="ellipse">
            <a:avLst/>
          </a:prstGeom>
          <a:solidFill>
            <a:srgbClr val="00B4D8"/>
          </a:solidFill>
          <a:ln w="12700">
            <a:solidFill>
              <a:srgbClr val="00B4D8"/>
            </a:solidFill>
            <a:prstDash val="solid"/>
          </a:ln>
        </p:spPr>
      </p:sp>
      <p:sp>
        <p:nvSpPr>
          <p:cNvPr id="23" name="Text 21"/>
          <p:cNvSpPr/>
          <p:nvPr/>
        </p:nvSpPr>
        <p:spPr>
          <a:xfrm>
            <a:off x="457200" y="3694176"/>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1005840" y="3657600"/>
            <a:ext cx="2011680" cy="45720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Generate &amp; Validate MQ3:</a:t>
            </a:r>
            <a:endParaRPr lang="en-US" sz="1100" dirty="0"/>
          </a:p>
        </p:txBody>
      </p:sp>
      <p:sp>
        <p:nvSpPr>
          <p:cNvPr id="25" name="Text 23"/>
          <p:cNvSpPr/>
          <p:nvPr/>
        </p:nvSpPr>
        <p:spPr>
          <a:xfrm>
            <a:off x="2926080" y="3657600"/>
            <a:ext cx="56692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LLM generates mitigation steps; hallucination checker verifies CVE IDs exist in NVD before including in output</a:t>
            </a:r>
            <a:endParaRPr lang="en-US" sz="1000" dirty="0"/>
          </a:p>
        </p:txBody>
      </p:sp>
      <p:sp>
        <p:nvSpPr>
          <p:cNvPr id="26" name="Shape 24"/>
          <p:cNvSpPr/>
          <p:nvPr/>
        </p:nvSpPr>
        <p:spPr>
          <a:xfrm>
            <a:off x="365760" y="4279392"/>
            <a:ext cx="8412480" cy="548640"/>
          </a:xfrm>
          <a:prstGeom prst="roundRect">
            <a:avLst>
              <a:gd name="adj" fmla="val 20000"/>
            </a:avLst>
          </a:prstGeom>
          <a:solidFill>
            <a:srgbClr val="F0FFF4"/>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457200" y="4352544"/>
            <a:ext cx="411480" cy="411480"/>
          </a:xfrm>
          <a:prstGeom prst="ellipse">
            <a:avLst/>
          </a:prstGeom>
          <a:solidFill>
            <a:srgbClr val="2DC653"/>
          </a:solidFill>
          <a:ln w="12700">
            <a:solidFill>
              <a:srgbClr val="2DC653"/>
            </a:solidFill>
            <a:prstDash val="solid"/>
          </a:ln>
        </p:spPr>
      </p:sp>
      <p:sp>
        <p:nvSpPr>
          <p:cNvPr id="28" name="Text 26"/>
          <p:cNvSpPr/>
          <p:nvPr/>
        </p:nvSpPr>
        <p:spPr>
          <a:xfrm>
            <a:off x="457200" y="4352544"/>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p:nvPr/>
        </p:nvSpPr>
        <p:spPr>
          <a:xfrm>
            <a:off x="1005840" y="4315968"/>
            <a:ext cx="2011680" cy="45720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MQ4 Coverage Check:</a:t>
            </a:r>
            <a:endParaRPr lang="en-US" sz="1100" dirty="0"/>
          </a:p>
        </p:txBody>
      </p:sp>
      <p:sp>
        <p:nvSpPr>
          <p:cNvPr id="30" name="Text 28"/>
          <p:cNvSpPr/>
          <p:nvPr/>
        </p:nvSpPr>
        <p:spPr>
          <a:xfrm>
            <a:off x="2926080" y="4315968"/>
            <a:ext cx="56692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Automatically generate a checklist verifying: all assets covered, all trust boundaries analyzed, STRIDE categories addressed</a:t>
            </a:r>
            <a:endParaRPr lang="en-US" sz="1000" dirty="0"/>
          </a:p>
        </p:txBody>
      </p:sp>
      <p:sp>
        <p:nvSpPr>
          <p:cNvPr id="31" name="Text 29"/>
          <p:cNvSpPr/>
          <p:nvPr/>
        </p:nvSpPr>
        <p:spPr>
          <a:xfrm>
            <a:off x="365760" y="4983480"/>
            <a:ext cx="8412480" cy="228600"/>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CVSS=Common Vulnerability Scoring System | NIST=National Institute of Standards &amp; Technology | OWASP=Open Web Application Security Project | STRIDE=Spoofing, Tampering, Repudiation, Info Disclosure, DoS, Elevation of Privilege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Hallucination Validation Guard</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Our solution to Gap 2</a:t>
            </a:r>
            <a:endParaRPr lang="en-US" sz="18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 3-layer verification pipeline checks LLM outputs for factual accuracy:</a:t>
            </a:r>
            <a:endParaRPr lang="en-US" sz="1200" dirty="0"/>
          </a:p>
        </p:txBody>
      </p:sp>
      <p:sp>
        <p:nvSpPr>
          <p:cNvPr id="6" name="Shape 4"/>
          <p:cNvSpPr/>
          <p:nvPr/>
        </p:nvSpPr>
        <p:spPr>
          <a:xfrm>
            <a:off x="365760" y="1664208"/>
            <a:ext cx="841248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57200" y="1773936"/>
            <a:ext cx="594360" cy="594360"/>
          </a:xfrm>
          <a:prstGeom prst="roundRect">
            <a:avLst>
              <a:gd name="adj" fmla="val 18462"/>
            </a:avLst>
          </a:prstGeom>
          <a:solidFill>
            <a:srgbClr val="E63946"/>
          </a:solidFill>
          <a:ln w="12700">
            <a:solidFill>
              <a:srgbClr val="E63946"/>
            </a:solidFill>
            <a:prstDash val="solid"/>
          </a:ln>
        </p:spPr>
      </p:sp>
      <p:sp>
        <p:nvSpPr>
          <p:cNvPr id="8" name="Text 6"/>
          <p:cNvSpPr/>
          <p:nvPr/>
        </p:nvSpPr>
        <p:spPr>
          <a:xfrm>
            <a:off x="457200" y="177393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188720" y="1737360"/>
            <a:ext cx="7315200" cy="34747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Layer 1: CVE ID Verification</a:t>
            </a:r>
            <a:endParaRPr lang="en-US" sz="1200" dirty="0"/>
          </a:p>
        </p:txBody>
      </p:sp>
      <p:sp>
        <p:nvSpPr>
          <p:cNvPr id="10" name="Text 8"/>
          <p:cNvSpPr/>
          <p:nvPr/>
        </p:nvSpPr>
        <p:spPr>
          <a:xfrm>
            <a:off x="1188720" y="2121408"/>
            <a:ext cx="7315200" cy="38404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Regex-extract all CVE-YYYY-NNNNN patterns from LLM output. Query NVD API for each. Flag any CVE ID not found in NVD as 'HALLUCINATED'. Replace with nearest-match CVE if available.</a:t>
            </a:r>
            <a:endParaRPr lang="en-US" sz="1050" dirty="0"/>
          </a:p>
        </p:txBody>
      </p:sp>
      <p:sp>
        <p:nvSpPr>
          <p:cNvPr id="11" name="Shape 9"/>
          <p:cNvSpPr/>
          <p:nvPr/>
        </p:nvSpPr>
        <p:spPr>
          <a:xfrm>
            <a:off x="365760" y="2743200"/>
            <a:ext cx="841248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57200" y="2852928"/>
            <a:ext cx="594360" cy="594360"/>
          </a:xfrm>
          <a:prstGeom prst="roundRect">
            <a:avLst>
              <a:gd name="adj" fmla="val 18462"/>
            </a:avLst>
          </a:prstGeom>
          <a:solidFill>
            <a:srgbClr val="FFB703"/>
          </a:solidFill>
          <a:ln w="12700">
            <a:solidFill>
              <a:srgbClr val="FFB703"/>
            </a:solidFill>
            <a:prstDash val="solid"/>
          </a:ln>
        </p:spPr>
      </p:sp>
      <p:sp>
        <p:nvSpPr>
          <p:cNvPr id="13" name="Text 11"/>
          <p:cNvSpPr/>
          <p:nvPr/>
        </p:nvSpPr>
        <p:spPr>
          <a:xfrm>
            <a:off x="457200" y="285292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188720" y="2816352"/>
            <a:ext cx="7315200" cy="34747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Layer 2: Semantic Consistency Check</a:t>
            </a:r>
            <a:endParaRPr lang="en-US" sz="1200" dirty="0"/>
          </a:p>
        </p:txBody>
      </p:sp>
      <p:sp>
        <p:nvSpPr>
          <p:cNvPr id="15" name="Text 13"/>
          <p:cNvSpPr/>
          <p:nvPr/>
        </p:nvSpPr>
        <p:spPr>
          <a:xfrm>
            <a:off x="1188720" y="3200400"/>
            <a:ext cx="7315200" cy="38404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Use BERTScore to compare LLM claims against retrieved RAG context. If semantic similarity &lt; 0.7, mark claim as 'LOW CONFIDENCE'. Surface these to the security engineer for manual review.</a:t>
            </a:r>
            <a:endParaRPr lang="en-US" sz="1050" dirty="0"/>
          </a:p>
        </p:txBody>
      </p:sp>
      <p:sp>
        <p:nvSpPr>
          <p:cNvPr id="16" name="Shape 14"/>
          <p:cNvSpPr/>
          <p:nvPr/>
        </p:nvSpPr>
        <p:spPr>
          <a:xfrm>
            <a:off x="365760" y="3822192"/>
            <a:ext cx="841248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57200" y="3931920"/>
            <a:ext cx="594360" cy="594360"/>
          </a:xfrm>
          <a:prstGeom prst="roundRect">
            <a:avLst>
              <a:gd name="adj" fmla="val 18462"/>
            </a:avLst>
          </a:prstGeom>
          <a:solidFill>
            <a:srgbClr val="2DC653"/>
          </a:solidFill>
          <a:ln w="12700">
            <a:solidFill>
              <a:srgbClr val="2DC653"/>
            </a:solidFill>
            <a:prstDash val="solid"/>
          </a:ln>
        </p:spPr>
      </p:sp>
      <p:sp>
        <p:nvSpPr>
          <p:cNvPr id="18" name="Text 16"/>
          <p:cNvSpPr/>
          <p:nvPr/>
        </p:nvSpPr>
        <p:spPr>
          <a:xfrm>
            <a:off x="457200" y="39319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188720" y="3895344"/>
            <a:ext cx="7315200" cy="34747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Layer 3: STRIDE Category Validation</a:t>
            </a:r>
            <a:endParaRPr lang="en-US" sz="1200" dirty="0"/>
          </a:p>
        </p:txBody>
      </p:sp>
      <p:sp>
        <p:nvSpPr>
          <p:cNvPr id="20" name="Text 18"/>
          <p:cNvSpPr/>
          <p:nvPr/>
        </p:nvSpPr>
        <p:spPr>
          <a:xfrm>
            <a:off x="1188720" y="4279392"/>
            <a:ext cx="7315200" cy="38404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Cross-check every identified threat against official STRIDE taxonomy. Threats that don't map to any STRIDE category are flagged. Severity scores validated against CVSS ranges (0-10).</a:t>
            </a:r>
            <a:endParaRPr lang="en-US" sz="1050" dirty="0"/>
          </a:p>
        </p:txBody>
      </p:sp>
      <p:sp>
        <p:nvSpPr>
          <p:cNvPr id="21" name="Text 19"/>
          <p:cNvSpPr/>
          <p:nvPr/>
        </p:nvSpPr>
        <p:spPr>
          <a:xfrm>
            <a:off x="365760" y="4937760"/>
            <a:ext cx="841248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BERTScore=BERT-based semantic similarity metric comparing generated text to reference text | Regex=Regular Expression pattern matching | CVE=Common Vulnerabilities and Exposures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Quantitative Evaluation Framework</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Our solution to Gap 3</a:t>
            </a:r>
            <a:endParaRPr lang="en-US" sz="1800" dirty="0"/>
          </a:p>
        </p:txBody>
      </p:sp>
      <p:sp>
        <p:nvSpPr>
          <p:cNvPr id="5" name="Text 3"/>
          <p:cNvSpPr/>
          <p:nvPr/>
        </p:nvSpPr>
        <p:spPr>
          <a:xfrm>
            <a:off x="457200" y="1188720"/>
            <a:ext cx="8229600" cy="347472"/>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We replace binary human evaluation with automated, reproducible metrics:</a:t>
            </a:r>
            <a:endParaRPr lang="en-US" sz="1200" dirty="0"/>
          </a:p>
        </p:txBody>
      </p:sp>
      <p:sp>
        <p:nvSpPr>
          <p:cNvPr id="6" name="Shape 4"/>
          <p:cNvSpPr/>
          <p:nvPr/>
        </p:nvSpPr>
        <p:spPr>
          <a:xfrm>
            <a:off x="274320" y="1691640"/>
            <a:ext cx="2788920" cy="3017520"/>
          </a:xfrm>
          <a:prstGeom prst="roundRect">
            <a:avLst>
              <a:gd name="adj" fmla="val 393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1691640"/>
            <a:ext cx="2788920" cy="292608"/>
          </a:xfrm>
          <a:prstGeom prst="rect">
            <a:avLst/>
          </a:prstGeom>
          <a:solidFill>
            <a:srgbClr val="00B4D8"/>
          </a:solidFill>
          <a:ln w="12700">
            <a:solidFill>
              <a:srgbClr val="00B4D8"/>
            </a:solidFill>
            <a:prstDash val="solid"/>
          </a:ln>
        </p:spPr>
      </p:sp>
      <p:sp>
        <p:nvSpPr>
          <p:cNvPr id="8" name="Text 6"/>
          <p:cNvSpPr/>
          <p:nvPr/>
        </p:nvSpPr>
        <p:spPr>
          <a:xfrm>
            <a:off x="274320" y="1691640"/>
            <a:ext cx="278892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BLEU Score</a:t>
            </a:r>
            <a:endParaRPr lang="en-US" sz="1300" dirty="0"/>
          </a:p>
        </p:txBody>
      </p:sp>
      <p:sp>
        <p:nvSpPr>
          <p:cNvPr id="9" name="Text 7"/>
          <p:cNvSpPr/>
          <p:nvPr/>
        </p:nvSpPr>
        <p:spPr>
          <a:xfrm>
            <a:off x="365760" y="2029968"/>
            <a:ext cx="26060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Bilingual Evaluation Understudy</a:t>
            </a:r>
            <a:endParaRPr lang="en-US" sz="950" dirty="0"/>
          </a:p>
        </p:txBody>
      </p:sp>
      <p:sp>
        <p:nvSpPr>
          <p:cNvPr id="10" name="Text 8"/>
          <p:cNvSpPr/>
          <p:nvPr/>
        </p:nvSpPr>
        <p:spPr>
          <a:xfrm>
            <a:off x="365760" y="2450592"/>
            <a:ext cx="2606040" cy="123444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Measures n-gram precision between generated answer and ground truth. Originally for machine translation. BLEU-1 to BLEU-4 give increasing strictness.</a:t>
            </a:r>
            <a:endParaRPr lang="en-US" sz="950" dirty="0"/>
          </a:p>
        </p:txBody>
      </p:sp>
      <p:sp>
        <p:nvSpPr>
          <p:cNvPr id="11" name="Shape 9"/>
          <p:cNvSpPr/>
          <p:nvPr/>
        </p:nvSpPr>
        <p:spPr>
          <a:xfrm>
            <a:off x="365760" y="4206240"/>
            <a:ext cx="2606040" cy="347472"/>
          </a:xfrm>
          <a:prstGeom prst="roundRect">
            <a:avLst>
              <a:gd name="adj" fmla="val 21053"/>
            </a:avLst>
          </a:prstGeom>
          <a:solidFill>
            <a:srgbClr val="00B4D8">
              <a:alpha val="20000"/>
            </a:srgbClr>
          </a:solidFill>
          <a:ln w="12700">
            <a:solidFill>
              <a:srgbClr val="00B4D8">
                <a:alpha val="50000"/>
              </a:srgbClr>
            </a:solidFill>
            <a:prstDash val="solid"/>
          </a:ln>
        </p:spPr>
      </p:sp>
      <p:sp>
        <p:nvSpPr>
          <p:cNvPr id="12" name="Text 10"/>
          <p:cNvSpPr/>
          <p:nvPr/>
        </p:nvSpPr>
        <p:spPr>
          <a:xfrm>
            <a:off x="365760" y="4206240"/>
            <a:ext cx="2606040" cy="347472"/>
          </a:xfrm>
          <a:prstGeom prst="rect">
            <a:avLst/>
          </a:prstGeom>
          <a:noFill/>
          <a:ln/>
        </p:spPr>
        <p:txBody>
          <a:bodyPr wrap="square" rtlCol="0" anchor="ctr"/>
          <a:lstStyle/>
          <a:p>
            <a:pPr algn="ctr" indent="0" marL="0">
              <a:buNone/>
            </a:pPr>
            <a:r>
              <a:rPr lang="en-US" sz="1000" b="1" dirty="0">
                <a:solidFill>
                  <a:srgbClr val="00B4D8"/>
                </a:solidFill>
                <a:latin typeface="Calibri" pitchFamily="34" charset="0"/>
                <a:ea typeface="Calibri" pitchFamily="34" charset="-122"/>
                <a:cs typeface="Calibri" pitchFamily="34" charset="-120"/>
              </a:rPr>
              <a:t>Range: 0.0 – 1.0 (higher = better)</a:t>
            </a:r>
            <a:endParaRPr lang="en-US" sz="1000" dirty="0"/>
          </a:p>
        </p:txBody>
      </p:sp>
      <p:sp>
        <p:nvSpPr>
          <p:cNvPr id="13" name="Shape 11"/>
          <p:cNvSpPr/>
          <p:nvPr/>
        </p:nvSpPr>
        <p:spPr>
          <a:xfrm>
            <a:off x="3200400" y="1691640"/>
            <a:ext cx="2788920" cy="3017520"/>
          </a:xfrm>
          <a:prstGeom prst="roundRect">
            <a:avLst>
              <a:gd name="adj" fmla="val 393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3200400" y="1691640"/>
            <a:ext cx="2788920" cy="292608"/>
          </a:xfrm>
          <a:prstGeom prst="rect">
            <a:avLst/>
          </a:prstGeom>
          <a:solidFill>
            <a:srgbClr val="FFB703"/>
          </a:solidFill>
          <a:ln w="12700">
            <a:solidFill>
              <a:srgbClr val="FFB703"/>
            </a:solidFill>
            <a:prstDash val="solid"/>
          </a:ln>
        </p:spPr>
      </p:sp>
      <p:sp>
        <p:nvSpPr>
          <p:cNvPr id="15" name="Text 13"/>
          <p:cNvSpPr/>
          <p:nvPr/>
        </p:nvSpPr>
        <p:spPr>
          <a:xfrm>
            <a:off x="3200400" y="1691640"/>
            <a:ext cx="278892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ROUGE-L</a:t>
            </a:r>
            <a:endParaRPr lang="en-US" sz="1300" dirty="0"/>
          </a:p>
        </p:txBody>
      </p:sp>
      <p:sp>
        <p:nvSpPr>
          <p:cNvPr id="16" name="Text 14"/>
          <p:cNvSpPr/>
          <p:nvPr/>
        </p:nvSpPr>
        <p:spPr>
          <a:xfrm>
            <a:off x="3291840" y="2029968"/>
            <a:ext cx="2606040" cy="384048"/>
          </a:xfrm>
          <a:prstGeom prst="rect">
            <a:avLst/>
          </a:prstGeom>
          <a:noFill/>
          <a:ln/>
        </p:spPr>
        <p:txBody>
          <a:bodyPr wrap="square" rtlCol="0" anchor="ctr"/>
          <a:lstStyle/>
          <a:p>
            <a:pPr indent="0" marL="0">
              <a:buNone/>
            </a:pPr>
            <a:r>
              <a:rPr lang="en-US" sz="950" b="1" dirty="0">
                <a:solidFill>
                  <a:srgbClr val="FFB703"/>
                </a:solidFill>
                <a:latin typeface="Calibri" pitchFamily="34" charset="0"/>
                <a:ea typeface="Calibri" pitchFamily="34" charset="-122"/>
                <a:cs typeface="Calibri" pitchFamily="34" charset="-120"/>
              </a:rPr>
              <a:t>Recall-Oriented Understudy for Gisting Evaluation</a:t>
            </a:r>
            <a:endParaRPr lang="en-US" sz="950" dirty="0"/>
          </a:p>
        </p:txBody>
      </p:sp>
      <p:sp>
        <p:nvSpPr>
          <p:cNvPr id="17" name="Text 15"/>
          <p:cNvSpPr/>
          <p:nvPr/>
        </p:nvSpPr>
        <p:spPr>
          <a:xfrm>
            <a:off x="3291840" y="2450592"/>
            <a:ext cx="2606040" cy="123444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Measures longest common subsequence between output and reference. ROUGE-L focuses on sentence-level structure and fluency, not just word overlap.</a:t>
            </a:r>
            <a:endParaRPr lang="en-US" sz="950" dirty="0"/>
          </a:p>
        </p:txBody>
      </p:sp>
      <p:sp>
        <p:nvSpPr>
          <p:cNvPr id="18" name="Shape 16"/>
          <p:cNvSpPr/>
          <p:nvPr/>
        </p:nvSpPr>
        <p:spPr>
          <a:xfrm>
            <a:off x="3291840" y="4206240"/>
            <a:ext cx="2606040" cy="347472"/>
          </a:xfrm>
          <a:prstGeom prst="roundRect">
            <a:avLst>
              <a:gd name="adj" fmla="val 21053"/>
            </a:avLst>
          </a:prstGeom>
          <a:solidFill>
            <a:srgbClr val="FFB703">
              <a:alpha val="20000"/>
            </a:srgbClr>
          </a:solidFill>
          <a:ln w="12700">
            <a:solidFill>
              <a:srgbClr val="FFB703">
                <a:alpha val="50000"/>
              </a:srgbClr>
            </a:solidFill>
            <a:prstDash val="solid"/>
          </a:ln>
        </p:spPr>
      </p:sp>
      <p:sp>
        <p:nvSpPr>
          <p:cNvPr id="19" name="Text 17"/>
          <p:cNvSpPr/>
          <p:nvPr/>
        </p:nvSpPr>
        <p:spPr>
          <a:xfrm>
            <a:off x="3291840" y="4206240"/>
            <a:ext cx="2606040" cy="347472"/>
          </a:xfrm>
          <a:prstGeom prst="rect">
            <a:avLst/>
          </a:prstGeom>
          <a:noFill/>
          <a:ln/>
        </p:spPr>
        <p:txBody>
          <a:bodyPr wrap="square" rtlCol="0" anchor="ctr"/>
          <a:lstStyle/>
          <a:p>
            <a:pPr algn="ctr" indent="0" marL="0">
              <a:buNone/>
            </a:pPr>
            <a:r>
              <a:rPr lang="en-US" sz="1000" b="1" dirty="0">
                <a:solidFill>
                  <a:srgbClr val="FFB703"/>
                </a:solidFill>
                <a:latin typeface="Calibri" pitchFamily="34" charset="0"/>
                <a:ea typeface="Calibri" pitchFamily="34" charset="-122"/>
                <a:cs typeface="Calibri" pitchFamily="34" charset="-120"/>
              </a:rPr>
              <a:t>Range: 0.0 – 1.0 (F1 score)</a:t>
            </a:r>
            <a:endParaRPr lang="en-US" sz="1000" dirty="0"/>
          </a:p>
        </p:txBody>
      </p:sp>
      <p:sp>
        <p:nvSpPr>
          <p:cNvPr id="20" name="Shape 18"/>
          <p:cNvSpPr/>
          <p:nvPr/>
        </p:nvSpPr>
        <p:spPr>
          <a:xfrm>
            <a:off x="6126480" y="1691640"/>
            <a:ext cx="2788920" cy="3017520"/>
          </a:xfrm>
          <a:prstGeom prst="roundRect">
            <a:avLst>
              <a:gd name="adj" fmla="val 393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6126480" y="1691640"/>
            <a:ext cx="2788920" cy="292608"/>
          </a:xfrm>
          <a:prstGeom prst="rect">
            <a:avLst/>
          </a:prstGeom>
          <a:solidFill>
            <a:srgbClr val="2DC653"/>
          </a:solidFill>
          <a:ln w="12700">
            <a:solidFill>
              <a:srgbClr val="2DC653"/>
            </a:solidFill>
            <a:prstDash val="solid"/>
          </a:ln>
        </p:spPr>
      </p:sp>
      <p:sp>
        <p:nvSpPr>
          <p:cNvPr id="22" name="Text 20"/>
          <p:cNvSpPr/>
          <p:nvPr/>
        </p:nvSpPr>
        <p:spPr>
          <a:xfrm>
            <a:off x="6126480" y="1691640"/>
            <a:ext cx="278892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BERTScore</a:t>
            </a:r>
            <a:endParaRPr lang="en-US" sz="1300" dirty="0"/>
          </a:p>
        </p:txBody>
      </p:sp>
      <p:sp>
        <p:nvSpPr>
          <p:cNvPr id="23" name="Text 21"/>
          <p:cNvSpPr/>
          <p:nvPr/>
        </p:nvSpPr>
        <p:spPr>
          <a:xfrm>
            <a:off x="6217920" y="2029968"/>
            <a:ext cx="2606040" cy="384048"/>
          </a:xfrm>
          <a:prstGeom prst="rect">
            <a:avLst/>
          </a:prstGeom>
          <a:noFill/>
          <a:ln/>
        </p:spPr>
        <p:txBody>
          <a:bodyPr wrap="square" rtlCol="0" anchor="ctr"/>
          <a:lstStyle/>
          <a:p>
            <a:pPr indent="0" marL="0">
              <a:buNone/>
            </a:pPr>
            <a:r>
              <a:rPr lang="en-US" sz="950" b="1" dirty="0">
                <a:solidFill>
                  <a:srgbClr val="2DC653"/>
                </a:solidFill>
                <a:latin typeface="Calibri" pitchFamily="34" charset="0"/>
                <a:ea typeface="Calibri" pitchFamily="34" charset="-122"/>
                <a:cs typeface="Calibri" pitchFamily="34" charset="-120"/>
              </a:rPr>
              <a:t>BERT-based Semantic Similarity</a:t>
            </a:r>
            <a:endParaRPr lang="en-US" sz="950" dirty="0"/>
          </a:p>
        </p:txBody>
      </p:sp>
      <p:sp>
        <p:nvSpPr>
          <p:cNvPr id="24" name="Text 22"/>
          <p:cNvSpPr/>
          <p:nvPr/>
        </p:nvSpPr>
        <p:spPr>
          <a:xfrm>
            <a:off x="6217920" y="2450592"/>
            <a:ext cx="2606040" cy="123444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Uses contextual BERT embeddings to compute precision, recall, and F1 between generated and reference texts. Captures semantic meaning beyond exact word matching.</a:t>
            </a:r>
            <a:endParaRPr lang="en-US" sz="950" dirty="0"/>
          </a:p>
        </p:txBody>
      </p:sp>
      <p:sp>
        <p:nvSpPr>
          <p:cNvPr id="25" name="Shape 23"/>
          <p:cNvSpPr/>
          <p:nvPr/>
        </p:nvSpPr>
        <p:spPr>
          <a:xfrm>
            <a:off x="6217920" y="4206240"/>
            <a:ext cx="2606040" cy="347472"/>
          </a:xfrm>
          <a:prstGeom prst="roundRect">
            <a:avLst>
              <a:gd name="adj" fmla="val 21053"/>
            </a:avLst>
          </a:prstGeom>
          <a:solidFill>
            <a:srgbClr val="2DC653">
              <a:alpha val="20000"/>
            </a:srgbClr>
          </a:solidFill>
          <a:ln w="12700">
            <a:solidFill>
              <a:srgbClr val="2DC653">
                <a:alpha val="50000"/>
              </a:srgbClr>
            </a:solidFill>
            <a:prstDash val="solid"/>
          </a:ln>
        </p:spPr>
      </p:sp>
      <p:sp>
        <p:nvSpPr>
          <p:cNvPr id="26" name="Text 24"/>
          <p:cNvSpPr/>
          <p:nvPr/>
        </p:nvSpPr>
        <p:spPr>
          <a:xfrm>
            <a:off x="6217920" y="4206240"/>
            <a:ext cx="2606040" cy="347472"/>
          </a:xfrm>
          <a:prstGeom prst="rect">
            <a:avLst/>
          </a:prstGeom>
          <a:noFill/>
          <a:ln/>
        </p:spPr>
        <p:txBody>
          <a:bodyPr wrap="square" rtlCol="0" anchor="ctr"/>
          <a:lstStyle/>
          <a:p>
            <a:pPr algn="ctr" indent="0" marL="0">
              <a:buNone/>
            </a:pPr>
            <a:r>
              <a:rPr lang="en-US" sz="1000" b="1" dirty="0">
                <a:solidFill>
                  <a:srgbClr val="2DC653"/>
                </a:solidFill>
                <a:latin typeface="Calibri" pitchFamily="34" charset="0"/>
                <a:ea typeface="Calibri" pitchFamily="34" charset="-122"/>
                <a:cs typeface="Calibri" pitchFamily="34" charset="-120"/>
              </a:rPr>
              <a:t>Range: ~0.8–1.0 for good answers</a:t>
            </a:r>
            <a:endParaRPr lang="en-US" sz="1000" dirty="0"/>
          </a:p>
        </p:txBody>
      </p:sp>
      <p:sp>
        <p:nvSpPr>
          <p:cNvPr id="27" name="Text 25"/>
          <p:cNvSpPr/>
          <p:nvPr/>
        </p:nvSpPr>
        <p:spPr>
          <a:xfrm>
            <a:off x="365760" y="4892040"/>
            <a:ext cx="8412480" cy="292608"/>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Ground truth dataset: Expert-annotated ideal answers for all 72 original queries + 50 new MQ3/MQ4 queries. Enables repeatable, objective benchmarking.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Comparison: Paper vs Our Improved Solution</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3401568"/>
        </p:xfrm>
        <a:graphic>
          <a:graphicData uri="http://schemas.openxmlformats.org/drawingml/2006/table">
            <a:tbl>
              <a:tblPr/>
              <a:tblGrid>
                <a:gridCol w="2286000"/>
                <a:gridCol w="2926080"/>
                <a:gridCol w="292608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F1B2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Paper's Approach</a:t>
                      </a:r>
                      <a:endParaRPr lang="en-US" sz="11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63946"/>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Our Improved Solution</a:t>
                      </a:r>
                      <a:endParaRPr lang="en-US" sz="11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2DC653"/>
                    </a:solidFill>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MQ Coverage</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MQ1 + MQ2 only (50%)</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All 4 MQs — full threat model lifecycle</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LLM Model</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Llama 2 (7B/13B) on Colab</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Llama 3 / GPT-4 + Ollama for local privacy mode</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Hallucination Control</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None — acknowledged but unaddressed</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3-layer validation: CVE verify + BERTScore + STRIDE check</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Evaluation Method</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Binary +/- human eval, 2 coders</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BLEU + ROUGE-L + BERTScore automated + ground truth</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25–50 seconds per query</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&lt; 5s with Redis caching + async processing</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Privacy</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Requires cloud Pinecone + Colab</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Optional fully local: Chroma DB + Ollama</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Input Formats</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PDF only</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PDF, YAML, JSON, Python/code files, architecture images</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r h="384048">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Output Format</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Plain text answers</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A1A2E"/>
                          </a:solidFill>
                          <a:latin typeface="Calibri" pitchFamily="34" charset="0"/>
                          <a:ea typeface="Calibri" pitchFamily="34" charset="-122"/>
                          <a:cs typeface="Calibri" pitchFamily="34" charset="-120"/>
                        </a:rPr>
                        <a:t>Structured JSON: threat + CVEs + mitigations + MQ4 score</a:t>
                      </a:r>
                      <a:endParaRPr lang="en-US" sz="1000" dirty="0">
                        <a:latin typeface="Calibri" charset="0"/>
                        <a:ea typeface="Calibri" charset="0"/>
                        <a:cs typeface="Calibri"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274320" y="4956048"/>
            <a:ext cx="8595360" cy="256032"/>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Redis=in-memory key-value cache for fast repeated query lookup | Chroma=open-source local vector database | Ollama=tool for running LLMs locally on-device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Box 2"/>
          <p:cNvSpPr txBox="1"/>
          <p:nvPr/>
        </p:nvSpPr>
        <p:spPr>
          <a:xfrm>
            <a:off x="457200" y="73152"/>
            <a:ext cx="8229600" cy="777240"/>
          </a:xfrm>
          <a:prstGeom prst="rect">
            <a:avLst/>
          </a:prstGeom>
          <a:noFill/>
        </p:spPr>
        <p:txBody>
          <a:bodyPr wrap="square">
            <a:spAutoFit/>
          </a:bodyPr>
          <a:lstStyle/>
          <a:p>
            <a:pPr algn="l"/>
            <a:r>
              <a:rPr sz="2400" b="1">
                <a:solidFill>
                  <a:srgbClr val="FFFFFF"/>
                </a:solidFill>
                <a:latin typeface="Calibri"/>
              </a:rPr>
              <a:t>Decoupled Code Architecture — 4-Stage Pipeline</a:t>
            </a:r>
          </a:p>
        </p:txBody>
      </p:sp>
      <p:sp>
        <p:nvSpPr>
          <p:cNvPr id="4" name="TextBox 3"/>
          <p:cNvSpPr txBox="1"/>
          <p:nvPr/>
        </p:nvSpPr>
        <p:spPr>
          <a:xfrm>
            <a:off x="457200" y="868680"/>
            <a:ext cx="8229600" cy="320040"/>
          </a:xfrm>
          <a:prstGeom prst="rect">
            <a:avLst/>
          </a:prstGeom>
          <a:noFill/>
        </p:spPr>
        <p:txBody>
          <a:bodyPr wrap="square">
            <a:spAutoFit/>
          </a:bodyPr>
          <a:lstStyle/>
          <a:p>
            <a:pPr algn="l"/>
            <a:r>
              <a:rPr sz="1200" b="0">
                <a:solidFill>
                  <a:srgbClr val="00B4D8"/>
                </a:solidFill>
                <a:latin typeface="Calibri"/>
              </a:rPr>
              <a:t>Each stage is a self-contained module. Low coupling — modules communicate through well-defined interfaces only.</a:t>
            </a:r>
          </a:p>
        </p:txBody>
      </p:sp>
      <p:sp>
        <p:nvSpPr>
          <p:cNvPr id="5" name="Rectangle 4"/>
          <p:cNvSpPr/>
          <p:nvPr/>
        </p:nvSpPr>
        <p:spPr>
          <a:xfrm>
            <a:off x="320040" y="1280160"/>
            <a:ext cx="4160520" cy="173736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4904" y="1335024"/>
            <a:ext cx="822960" cy="310896"/>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Stage 1</a:t>
            </a:r>
          </a:p>
        </p:txBody>
      </p:sp>
      <p:sp>
        <p:nvSpPr>
          <p:cNvPr id="7" name="TextBox 6"/>
          <p:cNvSpPr txBox="1"/>
          <p:nvPr/>
        </p:nvSpPr>
        <p:spPr>
          <a:xfrm>
            <a:off x="1280160" y="1335024"/>
            <a:ext cx="3108960" cy="329184"/>
          </a:xfrm>
          <a:prstGeom prst="rect">
            <a:avLst/>
          </a:prstGeom>
          <a:noFill/>
        </p:spPr>
        <p:txBody>
          <a:bodyPr wrap="square">
            <a:spAutoFit/>
          </a:bodyPr>
          <a:lstStyle/>
          <a:p>
            <a:pPr algn="l"/>
            <a:r>
              <a:rPr sz="1000" b="1">
                <a:solidFill>
                  <a:srgbClr val="E0F4F9"/>
                </a:solidFill>
                <a:latin typeface="Courier New"/>
              </a:rPr>
              <a:t>document_processor.py</a:t>
            </a:r>
            <a:br/>
            <a:r>
              <a:t>keyword_extractor.py</a:t>
            </a:r>
          </a:p>
        </p:txBody>
      </p:sp>
      <p:sp>
        <p:nvSpPr>
          <p:cNvPr id="8" name="TextBox 7"/>
          <p:cNvSpPr txBox="1"/>
          <p:nvPr/>
        </p:nvSpPr>
        <p:spPr>
          <a:xfrm>
            <a:off x="429768" y="1737360"/>
            <a:ext cx="3977639" cy="1143000"/>
          </a:xfrm>
          <a:prstGeom prst="rect">
            <a:avLst/>
          </a:prstGeom>
          <a:noFill/>
        </p:spPr>
        <p:txBody>
          <a:bodyPr wrap="square">
            <a:spAutoFit/>
          </a:bodyPr>
          <a:lstStyle/>
          <a:p>
            <a:pPr algn="l"/>
            <a:r>
              <a:rPr sz="1050" b="0">
                <a:solidFill>
                  <a:srgbClr val="FFFFFF"/>
                </a:solidFill>
                <a:latin typeface="Courier New"/>
              </a:rPr>
              <a:t>load_pdf()  →  split_documents()</a:t>
            </a:r>
            <a:br/>
            <a:r>
              <a:t>extract_keywords()  →  KeyBERT + NLTK</a:t>
            </a:r>
          </a:p>
        </p:txBody>
      </p:sp>
      <p:sp>
        <p:nvSpPr>
          <p:cNvPr id="9" name="Rectangle 8"/>
          <p:cNvSpPr/>
          <p:nvPr/>
        </p:nvSpPr>
        <p:spPr>
          <a:xfrm>
            <a:off x="4709160" y="1280160"/>
            <a:ext cx="4160520" cy="1737360"/>
          </a:xfrm>
          <a:prstGeom prst="rect">
            <a:avLst/>
          </a:prstGeom>
          <a:solidFill>
            <a:srgbClr val="00748A"/>
          </a:solidFill>
          <a:ln>
            <a:solidFill>
              <a:srgbClr val="007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64024" y="1335024"/>
            <a:ext cx="822960" cy="310896"/>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Stage 2</a:t>
            </a:r>
          </a:p>
        </p:txBody>
      </p:sp>
      <p:sp>
        <p:nvSpPr>
          <p:cNvPr id="11" name="TextBox 10"/>
          <p:cNvSpPr txBox="1"/>
          <p:nvPr/>
        </p:nvSpPr>
        <p:spPr>
          <a:xfrm>
            <a:off x="5669280" y="1335024"/>
            <a:ext cx="3108960" cy="329184"/>
          </a:xfrm>
          <a:prstGeom prst="rect">
            <a:avLst/>
          </a:prstGeom>
          <a:noFill/>
        </p:spPr>
        <p:txBody>
          <a:bodyPr wrap="square">
            <a:spAutoFit/>
          </a:bodyPr>
          <a:lstStyle/>
          <a:p>
            <a:pPr algn="l"/>
            <a:r>
              <a:rPr sz="1000" b="1">
                <a:solidFill>
                  <a:srgbClr val="E0F4F9"/>
                </a:solidFill>
                <a:latin typeface="Courier New"/>
              </a:rPr>
              <a:t>nvd_querier.py</a:t>
            </a:r>
            <a:br/>
            <a:r>
              <a:t>vector_knowledge_base.py</a:t>
            </a:r>
          </a:p>
        </p:txBody>
      </p:sp>
      <p:sp>
        <p:nvSpPr>
          <p:cNvPr id="12" name="TextBox 11"/>
          <p:cNvSpPr txBox="1"/>
          <p:nvPr/>
        </p:nvSpPr>
        <p:spPr>
          <a:xfrm>
            <a:off x="4818888" y="1737360"/>
            <a:ext cx="3977639" cy="1143000"/>
          </a:xfrm>
          <a:prstGeom prst="rect">
            <a:avLst/>
          </a:prstGeom>
          <a:noFill/>
        </p:spPr>
        <p:txBody>
          <a:bodyPr wrap="square">
            <a:spAutoFit/>
          </a:bodyPr>
          <a:lstStyle/>
          <a:p>
            <a:pPr algn="l"/>
            <a:r>
              <a:rPr sz="1050" b="0">
                <a:solidFill>
                  <a:srgbClr val="FFFFFF"/>
                </a:solidFill>
                <a:latin typeface="Courier New"/>
              </a:rPr>
              <a:t>query_cves_for_keyword()  →  NVD API</a:t>
            </a:r>
            <a:br/>
            <a:r>
              <a:t>build_from_documents() / build_from_cves()  →  ChromaDB</a:t>
            </a:r>
          </a:p>
        </p:txBody>
      </p:sp>
      <p:sp>
        <p:nvSpPr>
          <p:cNvPr id="13" name="Rectangle 12"/>
          <p:cNvSpPr/>
          <p:nvPr/>
        </p:nvSpPr>
        <p:spPr>
          <a:xfrm>
            <a:off x="320040" y="3246120"/>
            <a:ext cx="4160520" cy="1737360"/>
          </a:xfrm>
          <a:prstGeom prst="rect">
            <a:avLst/>
          </a:prstGeom>
          <a:solidFill>
            <a:srgbClr val="1A2E4A"/>
          </a:solidFill>
          <a:ln>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4904" y="3300984"/>
            <a:ext cx="822960" cy="310896"/>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Stage 3</a:t>
            </a:r>
          </a:p>
        </p:txBody>
      </p:sp>
      <p:sp>
        <p:nvSpPr>
          <p:cNvPr id="15" name="TextBox 14"/>
          <p:cNvSpPr txBox="1"/>
          <p:nvPr/>
        </p:nvSpPr>
        <p:spPr>
          <a:xfrm>
            <a:off x="1280160" y="3300984"/>
            <a:ext cx="3108960" cy="329184"/>
          </a:xfrm>
          <a:prstGeom prst="rect">
            <a:avLst/>
          </a:prstGeom>
          <a:noFill/>
        </p:spPr>
        <p:txBody>
          <a:bodyPr wrap="square">
            <a:spAutoFit/>
          </a:bodyPr>
          <a:lstStyle/>
          <a:p>
            <a:pPr algn="l"/>
            <a:r>
              <a:rPr sz="1000" b="1">
                <a:solidFill>
                  <a:srgbClr val="E0F4F9"/>
                </a:solidFill>
                <a:latin typeface="Courier New"/>
              </a:rPr>
              <a:t>rag_pipeline.py</a:t>
            </a:r>
            <a:br/>
            <a:r>
              <a:t>rag_pipeline_improved.py</a:t>
            </a:r>
          </a:p>
        </p:txBody>
      </p:sp>
      <p:sp>
        <p:nvSpPr>
          <p:cNvPr id="16" name="TextBox 15"/>
          <p:cNvSpPr txBox="1"/>
          <p:nvPr/>
        </p:nvSpPr>
        <p:spPr>
          <a:xfrm>
            <a:off x="429768" y="3703320"/>
            <a:ext cx="3977639" cy="1143000"/>
          </a:xfrm>
          <a:prstGeom prst="rect">
            <a:avLst/>
          </a:prstGeom>
          <a:noFill/>
        </p:spPr>
        <p:txBody>
          <a:bodyPr wrap="square">
            <a:spAutoFit/>
          </a:bodyPr>
          <a:lstStyle/>
          <a:p>
            <a:pPr algn="l"/>
            <a:r>
              <a:rPr sz="1050" b="0">
                <a:solidFill>
                  <a:srgbClr val="FFFFFF"/>
                </a:solidFill>
                <a:latin typeface="Courier New"/>
              </a:rPr>
              <a:t>answer_question()  →  RetrievalQA + Llama 2</a:t>
            </a:r>
            <a:br/>
            <a:r>
              <a:t>query()  →  Cache → Retrieve → LLM → Guard</a:t>
            </a:r>
          </a:p>
        </p:txBody>
      </p:sp>
      <p:sp>
        <p:nvSpPr>
          <p:cNvPr id="17" name="Rectangle 16"/>
          <p:cNvSpPr/>
          <p:nvPr/>
        </p:nvSpPr>
        <p:spPr>
          <a:xfrm>
            <a:off x="4709160" y="3246120"/>
            <a:ext cx="4160520" cy="1737360"/>
          </a:xfrm>
          <a:prstGeom prst="rect">
            <a:avLst/>
          </a:prstGeom>
          <a:solidFill>
            <a:srgbClr val="08526B"/>
          </a:solidFill>
          <a:ln>
            <a:solidFill>
              <a:srgbClr val="085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64024" y="3300984"/>
            <a:ext cx="822960" cy="310896"/>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Stage 4</a:t>
            </a:r>
          </a:p>
        </p:txBody>
      </p:sp>
      <p:sp>
        <p:nvSpPr>
          <p:cNvPr id="19" name="TextBox 18"/>
          <p:cNvSpPr txBox="1"/>
          <p:nvPr/>
        </p:nvSpPr>
        <p:spPr>
          <a:xfrm>
            <a:off x="5669280" y="3300984"/>
            <a:ext cx="3108960" cy="329184"/>
          </a:xfrm>
          <a:prstGeom prst="rect">
            <a:avLst/>
          </a:prstGeom>
          <a:noFill/>
        </p:spPr>
        <p:txBody>
          <a:bodyPr wrap="square">
            <a:spAutoFit/>
          </a:bodyPr>
          <a:lstStyle/>
          <a:p>
            <a:pPr algn="l"/>
            <a:r>
              <a:rPr sz="1000" b="1">
                <a:solidFill>
                  <a:srgbClr val="E0F4F9"/>
                </a:solidFill>
                <a:latin typeface="Courier New"/>
              </a:rPr>
              <a:t>binary_evaluator.py</a:t>
            </a:r>
            <a:br/>
            <a:r>
              <a:t>auto_evaluator.py</a:t>
            </a:r>
          </a:p>
        </p:txBody>
      </p:sp>
      <p:sp>
        <p:nvSpPr>
          <p:cNvPr id="20" name="TextBox 19"/>
          <p:cNvSpPr txBox="1"/>
          <p:nvPr/>
        </p:nvSpPr>
        <p:spPr>
          <a:xfrm>
            <a:off x="4818888" y="3703320"/>
            <a:ext cx="3977639" cy="1143000"/>
          </a:xfrm>
          <a:prstGeom prst="rect">
            <a:avLst/>
          </a:prstGeom>
          <a:noFill/>
        </p:spPr>
        <p:txBody>
          <a:bodyPr wrap="square">
            <a:spAutoFit/>
          </a:bodyPr>
          <a:lstStyle/>
          <a:p>
            <a:pPr algn="l"/>
            <a:r>
              <a:rPr sz="1050" b="0">
                <a:solidFill>
                  <a:srgbClr val="FFFFFF"/>
                </a:solidFill>
                <a:latin typeface="Courier New"/>
              </a:rPr>
              <a:t>evaluate_response()  →  +/- binary (paper)</a:t>
            </a:r>
            <a:br/>
            <a:r>
              <a:t>evaluate_answer()  →  BLEU / ROUGE-L / BERTScore</a:t>
            </a:r>
          </a:p>
        </p:txBody>
      </p:sp>
      <p:sp>
        <p:nvSpPr>
          <p:cNvPr id="21" name="Rectangle 20"/>
          <p:cNvSpPr/>
          <p:nvPr/>
        </p:nvSpPr>
        <p:spPr>
          <a:xfrm>
            <a:off x="4489704" y="2057400"/>
            <a:ext cx="201168" cy="91440"/>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9704" y="4023360"/>
            <a:ext cx="201168" cy="91440"/>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31720" y="3026664"/>
            <a:ext cx="91440" cy="201168"/>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20840" y="3026664"/>
            <a:ext cx="91440" cy="201168"/>
          </a:xfrm>
          <a:prstGeom prst="rect">
            <a:avLst/>
          </a:prstGeom>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892040"/>
            <a:ext cx="8503920" cy="274320"/>
          </a:xfrm>
          <a:prstGeom prst="rect">
            <a:avLst/>
          </a:prstGeom>
          <a:noFill/>
        </p:spPr>
        <p:txBody>
          <a:bodyPr wrap="square">
            <a:spAutoFit/>
          </a:bodyPr>
          <a:lstStyle/>
          <a:p>
            <a:pPr algn="ctr"/>
            <a:r>
              <a:rPr sz="950" b="0">
                <a:solidFill>
                  <a:srgbClr val="6B7280"/>
                </a:solidFill>
                <a:latin typeface="Calibri"/>
              </a:rPr>
              <a:t>Each module is independently testable. main.py orchestrates them via dependency injection — swap any module without touching others.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Python Implementation Overview</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Code structure for paper approach and our improved solution</a:t>
            </a:r>
            <a:endParaRPr lang="en-US" sz="18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Three Python modules implement and compare both approaches:</a:t>
            </a:r>
            <a:endParaRPr lang="en-US" sz="1200" dirty="0"/>
          </a:p>
        </p:txBody>
      </p:sp>
      <p:sp>
        <p:nvSpPr>
          <p:cNvPr id="6" name="Shape 4"/>
          <p:cNvSpPr/>
          <p:nvPr/>
        </p:nvSpPr>
        <p:spPr>
          <a:xfrm>
            <a:off x="274320" y="1691640"/>
            <a:ext cx="859536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365760" y="1783080"/>
            <a:ext cx="2103120" cy="292608"/>
          </a:xfrm>
          <a:prstGeom prst="roundRect">
            <a:avLst>
              <a:gd name="adj" fmla="val 25000"/>
            </a:avLst>
          </a:prstGeom>
          <a:solidFill>
            <a:srgbClr val="00B4D8"/>
          </a:solidFill>
          <a:ln w="12700">
            <a:solidFill>
              <a:srgbClr val="00B4D8"/>
            </a:solidFill>
            <a:prstDash val="solid"/>
          </a:ln>
        </p:spPr>
      </p:sp>
      <p:sp>
        <p:nvSpPr>
          <p:cNvPr id="8" name="Text 6"/>
          <p:cNvSpPr/>
          <p:nvPr/>
        </p:nvSpPr>
        <p:spPr>
          <a:xfrm>
            <a:off x="365760" y="1783080"/>
            <a:ext cx="21031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paper_approach.py</a:t>
            </a:r>
            <a:endParaRPr lang="en-US" sz="1000" dirty="0"/>
          </a:p>
        </p:txBody>
      </p:sp>
      <p:sp>
        <p:nvSpPr>
          <p:cNvPr id="9" name="Text 7"/>
          <p:cNvSpPr/>
          <p:nvPr/>
        </p:nvSpPr>
        <p:spPr>
          <a:xfrm>
            <a:off x="2606040" y="1764792"/>
            <a:ext cx="603504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Replicates the paper's system: KeyBERT keyword extraction, Pinecone vector DB, Llama 2 RAG pipeline for MQ1 &amp; MQ2</a:t>
            </a:r>
            <a:endParaRPr lang="en-US" sz="1050" dirty="0"/>
          </a:p>
        </p:txBody>
      </p:sp>
      <p:sp>
        <p:nvSpPr>
          <p:cNvPr id="10" name="Text 8"/>
          <p:cNvSpPr/>
          <p:nvPr/>
        </p:nvSpPr>
        <p:spPr>
          <a:xfrm>
            <a:off x="365760" y="2194560"/>
            <a:ext cx="8229600" cy="320040"/>
          </a:xfrm>
          <a:prstGeom prst="rect">
            <a:avLst/>
          </a:prstGeom>
          <a:noFill/>
          <a:ln/>
        </p:spPr>
        <p:txBody>
          <a:bodyPr wrap="square" lIns="0" tIns="0" rIns="0" bIns="0" rtlCol="0" anchor="ctr"/>
          <a:lstStyle/>
          <a:p>
            <a:pPr indent="0" marL="0">
              <a:buNone/>
            </a:pPr>
            <a:r>
              <a:rPr lang="en-US" sz="950" dirty="0">
                <a:solidFill>
                  <a:srgbClr val="00B4D8"/>
                </a:solidFill>
                <a:latin typeface="Courier New" pitchFamily="34" charset="0"/>
                <a:ea typeface="Courier New" pitchFamily="34" charset="-122"/>
                <a:cs typeface="Courier New" pitchFamily="34" charset="-120"/>
              </a:rPr>
              <a:t>Classes: DocumentProcessor  |  NVDQuerier  |  ThreatModelRAG  |  Evaluator(binary)</a:t>
            </a:r>
            <a:endParaRPr lang="en-US" sz="950" dirty="0"/>
          </a:p>
        </p:txBody>
      </p:sp>
      <p:sp>
        <p:nvSpPr>
          <p:cNvPr id="11" name="Shape 9"/>
          <p:cNvSpPr/>
          <p:nvPr/>
        </p:nvSpPr>
        <p:spPr>
          <a:xfrm>
            <a:off x="274320" y="2743200"/>
            <a:ext cx="859536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65760" y="2834640"/>
            <a:ext cx="2103120" cy="292608"/>
          </a:xfrm>
          <a:prstGeom prst="roundRect">
            <a:avLst>
              <a:gd name="adj" fmla="val 25000"/>
            </a:avLst>
          </a:prstGeom>
          <a:solidFill>
            <a:srgbClr val="2DC653"/>
          </a:solidFill>
          <a:ln w="12700">
            <a:solidFill>
              <a:srgbClr val="2DC653"/>
            </a:solidFill>
            <a:prstDash val="solid"/>
          </a:ln>
        </p:spPr>
      </p:sp>
      <p:sp>
        <p:nvSpPr>
          <p:cNvPr id="13" name="Text 11"/>
          <p:cNvSpPr/>
          <p:nvPr/>
        </p:nvSpPr>
        <p:spPr>
          <a:xfrm>
            <a:off x="365760" y="2834640"/>
            <a:ext cx="21031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improved_approach.py</a:t>
            </a:r>
            <a:endParaRPr lang="en-US" sz="1000" dirty="0"/>
          </a:p>
        </p:txBody>
      </p:sp>
      <p:sp>
        <p:nvSpPr>
          <p:cNvPr id="14" name="Text 12"/>
          <p:cNvSpPr/>
          <p:nvPr/>
        </p:nvSpPr>
        <p:spPr>
          <a:xfrm>
            <a:off x="2606040" y="2816352"/>
            <a:ext cx="603504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Our enhanced system: adds MQ3/MQ4 generation, hallucination validation, Redis caching, multi-format input, local Ollama support</a:t>
            </a:r>
            <a:endParaRPr lang="en-US" sz="1050" dirty="0"/>
          </a:p>
        </p:txBody>
      </p:sp>
      <p:sp>
        <p:nvSpPr>
          <p:cNvPr id="15" name="Text 13"/>
          <p:cNvSpPr/>
          <p:nvPr/>
        </p:nvSpPr>
        <p:spPr>
          <a:xfrm>
            <a:off x="365760" y="3246120"/>
            <a:ext cx="8229600" cy="320040"/>
          </a:xfrm>
          <a:prstGeom prst="rect">
            <a:avLst/>
          </a:prstGeom>
          <a:noFill/>
          <a:ln/>
        </p:spPr>
        <p:txBody>
          <a:bodyPr wrap="square" lIns="0" tIns="0" rIns="0" bIns="0" rtlCol="0" anchor="ctr"/>
          <a:lstStyle/>
          <a:p>
            <a:pPr indent="0" marL="0">
              <a:buNone/>
            </a:pPr>
            <a:r>
              <a:rPr lang="en-US" sz="950" dirty="0">
                <a:solidFill>
                  <a:srgbClr val="2DC653"/>
                </a:solidFill>
                <a:latin typeface="Courier New" pitchFamily="34" charset="0"/>
                <a:ea typeface="Courier New" pitchFamily="34" charset="-122"/>
                <a:cs typeface="Courier New" pitchFamily="34" charset="-120"/>
              </a:rPr>
              <a:t>Classes: MultiFormatLoader  |  HallucinationGuard  |  MitigationGenerator  |  MQ4Verifier  |  AutoEvaluator</a:t>
            </a:r>
            <a:endParaRPr lang="en-US" sz="950" dirty="0"/>
          </a:p>
        </p:txBody>
      </p:sp>
      <p:sp>
        <p:nvSpPr>
          <p:cNvPr id="16" name="Shape 14"/>
          <p:cNvSpPr/>
          <p:nvPr/>
        </p:nvSpPr>
        <p:spPr>
          <a:xfrm>
            <a:off x="274320" y="3794760"/>
            <a:ext cx="8595360" cy="9144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365760" y="3886200"/>
            <a:ext cx="2103120" cy="292608"/>
          </a:xfrm>
          <a:prstGeom prst="roundRect">
            <a:avLst>
              <a:gd name="adj" fmla="val 25000"/>
            </a:avLst>
          </a:prstGeom>
          <a:solidFill>
            <a:srgbClr val="FFB703"/>
          </a:solidFill>
          <a:ln w="12700">
            <a:solidFill>
              <a:srgbClr val="FFB703"/>
            </a:solidFill>
            <a:prstDash val="solid"/>
          </a:ln>
        </p:spPr>
      </p:sp>
      <p:sp>
        <p:nvSpPr>
          <p:cNvPr id="18" name="Text 16"/>
          <p:cNvSpPr/>
          <p:nvPr/>
        </p:nvSpPr>
        <p:spPr>
          <a:xfrm>
            <a:off x="365760" y="3886200"/>
            <a:ext cx="21031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benchmark_comparison.py</a:t>
            </a:r>
            <a:endParaRPr lang="en-US" sz="1000" dirty="0"/>
          </a:p>
        </p:txBody>
      </p:sp>
      <p:sp>
        <p:nvSpPr>
          <p:cNvPr id="19" name="Text 17"/>
          <p:cNvSpPr/>
          <p:nvPr/>
        </p:nvSpPr>
        <p:spPr>
          <a:xfrm>
            <a:off x="2606040" y="3867912"/>
            <a:ext cx="6035040" cy="3474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Runs both approaches against ground-truth dataset, computes BLEU/ROUGE/BERTScore, generates comparison report and visualizations</a:t>
            </a:r>
            <a:endParaRPr lang="en-US" sz="1050" dirty="0"/>
          </a:p>
        </p:txBody>
      </p:sp>
      <p:sp>
        <p:nvSpPr>
          <p:cNvPr id="20" name="Text 18"/>
          <p:cNvSpPr/>
          <p:nvPr/>
        </p:nvSpPr>
        <p:spPr>
          <a:xfrm>
            <a:off x="365760" y="4297680"/>
            <a:ext cx="8229600" cy="320040"/>
          </a:xfrm>
          <a:prstGeom prst="rect">
            <a:avLst/>
          </a:prstGeom>
          <a:noFill/>
          <a:ln/>
        </p:spPr>
        <p:txBody>
          <a:bodyPr wrap="square" lIns="0" tIns="0" rIns="0" bIns="0" rtlCol="0" anchor="ctr"/>
          <a:lstStyle/>
          <a:p>
            <a:pPr indent="0" marL="0">
              <a:buNone/>
            </a:pPr>
            <a:r>
              <a:rPr lang="en-US" sz="950" dirty="0">
                <a:solidFill>
                  <a:srgbClr val="FFB703"/>
                </a:solidFill>
                <a:latin typeface="Courier New" pitchFamily="34" charset="0"/>
                <a:ea typeface="Courier New" pitchFamily="34" charset="-122"/>
                <a:cs typeface="Courier New" pitchFamily="34" charset="-120"/>
              </a:rPr>
              <a:t>Classes: GroundTruthDataset  |  BLEUScorer  |  ROUGEScorer  |  BERTScorer  |  ReportGenerator</a:t>
            </a:r>
            <a:endParaRPr lang="en-US" sz="950" dirty="0"/>
          </a:p>
        </p:txBody>
      </p:sp>
      <p:sp>
        <p:nvSpPr>
          <p:cNvPr id="21" name="Text 19"/>
          <p:cNvSpPr/>
          <p:nvPr/>
        </p:nvSpPr>
        <p:spPr>
          <a:xfrm>
            <a:off x="274320" y="4937760"/>
            <a:ext cx="8595360" cy="292608"/>
          </a:xfrm>
          <a:prstGeom prst="rect">
            <a:avLst/>
          </a:prstGeom>
          <a:noFill/>
          <a:ln/>
        </p:spPr>
        <p:txBody>
          <a:bodyPr wrap="square" rtlCol="0" anchor="ctr"/>
          <a:lstStyle/>
          <a:p>
            <a:pPr indent="0" marL="0">
              <a:buNone/>
            </a:pPr>
            <a:r>
              <a:rPr lang="en-US" sz="1050" i="1" dirty="0">
                <a:solidFill>
                  <a:srgbClr val="00B4D8"/>
                </a:solidFill>
                <a:latin typeface="Calibri" pitchFamily="34" charset="0"/>
                <a:ea typeface="Calibri" pitchFamily="34" charset="-122"/>
                <a:cs typeface="Calibri" pitchFamily="34" charset="-120"/>
              </a:rPr>
              <a:t>All code ships with a complete README.md covering: setup, environment config, API keys, usage examples, and expected outputs.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4D8"/>
          </a:solidFill>
          <a:ln w="12700">
            <a:solidFill>
              <a:srgbClr val="00B4D8"/>
            </a:solidFill>
            <a:prstDash val="solid"/>
          </a:ln>
        </p:spPr>
      </p:sp>
      <p:sp>
        <p:nvSpPr>
          <p:cNvPr id="3" name="Text 1"/>
          <p:cNvSpPr/>
          <p:nvPr/>
        </p:nvSpPr>
        <p:spPr>
          <a:xfrm>
            <a:off x="457200" y="9144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Findings &amp; Takeaways</a:t>
            </a:r>
            <a:endParaRPr lang="en-US" sz="2600" dirty="0"/>
          </a:p>
        </p:txBody>
      </p:sp>
      <p:sp>
        <p:nvSpPr>
          <p:cNvPr id="4" name="Text 2"/>
          <p:cNvSpPr/>
          <p:nvPr/>
        </p:nvSpPr>
        <p:spPr>
          <a:xfrm>
            <a:off x="457200" y="1280160"/>
            <a:ext cx="8229600" cy="640080"/>
          </a:xfrm>
          <a:prstGeom prst="rect">
            <a:avLst/>
          </a:prstGeom>
          <a:noFill/>
          <a:ln/>
        </p:spPr>
        <p:txBody>
          <a:bodyPr wrap="square"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What we learned and what comes next</a:t>
            </a:r>
            <a:endParaRPr lang="en-US" sz="1800" dirty="0"/>
          </a:p>
        </p:txBody>
      </p:sp>
      <p:sp>
        <p:nvSpPr>
          <p:cNvPr id="5" name="Shape 3"/>
          <p:cNvSpPr/>
          <p:nvPr/>
        </p:nvSpPr>
        <p:spPr>
          <a:xfrm>
            <a:off x="320040" y="1261872"/>
            <a:ext cx="8503920" cy="621792"/>
          </a:xfrm>
          <a:prstGeom prst="roundRect">
            <a:avLst>
              <a:gd name="adj" fmla="val 1764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411480" y="1353312"/>
            <a:ext cx="438912" cy="438912"/>
          </a:xfrm>
          <a:prstGeom prst="ellipse">
            <a:avLst/>
          </a:prstGeom>
          <a:solidFill>
            <a:srgbClr val="00B4D8"/>
          </a:solidFill>
          <a:ln w="12700">
            <a:solidFill>
              <a:srgbClr val="00B4D8"/>
            </a:solidFill>
            <a:prstDash val="solid"/>
          </a:ln>
        </p:spPr>
      </p:sp>
      <p:sp>
        <p:nvSpPr>
          <p:cNvPr id="7" name="Text 5"/>
          <p:cNvSpPr/>
          <p:nvPr/>
        </p:nvSpPr>
        <p:spPr>
          <a:xfrm>
            <a:off x="411480" y="135331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1307592"/>
            <a:ext cx="768096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The paper is a strong proof-of-concept:</a:t>
            </a:r>
            <a:endParaRPr lang="en-US" sz="1100" dirty="0"/>
          </a:p>
        </p:txBody>
      </p:sp>
      <p:sp>
        <p:nvSpPr>
          <p:cNvPr id="9" name="Text 7"/>
          <p:cNvSpPr/>
          <p:nvPr/>
        </p:nvSpPr>
        <p:spPr>
          <a:xfrm>
            <a:off x="960120" y="1581912"/>
            <a:ext cx="7680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RAG-enhanced LLM for threat modeling is a valid and promising approach. The 75%+ satisfaction rate on 72 queries is encouraging for early-stage research.</a:t>
            </a:r>
            <a:endParaRPr lang="en-US" sz="1000" dirty="0"/>
          </a:p>
        </p:txBody>
      </p:sp>
      <p:sp>
        <p:nvSpPr>
          <p:cNvPr id="10" name="Shape 8"/>
          <p:cNvSpPr/>
          <p:nvPr/>
        </p:nvSpPr>
        <p:spPr>
          <a:xfrm>
            <a:off x="320040" y="1993392"/>
            <a:ext cx="8503920" cy="621792"/>
          </a:xfrm>
          <a:prstGeom prst="roundRect">
            <a:avLst>
              <a:gd name="adj" fmla="val 1764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11480" y="2084832"/>
            <a:ext cx="438912" cy="438912"/>
          </a:xfrm>
          <a:prstGeom prst="ellipse">
            <a:avLst/>
          </a:prstGeom>
          <a:solidFill>
            <a:srgbClr val="00B4D8"/>
          </a:solidFill>
          <a:ln w="12700">
            <a:solidFill>
              <a:srgbClr val="00B4D8"/>
            </a:solidFill>
            <a:prstDash val="solid"/>
          </a:ln>
        </p:spPr>
      </p:sp>
      <p:sp>
        <p:nvSpPr>
          <p:cNvPr id="12" name="Text 10"/>
          <p:cNvSpPr/>
          <p:nvPr/>
        </p:nvSpPr>
        <p:spPr>
          <a:xfrm>
            <a:off x="411480" y="208483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960120" y="2039112"/>
            <a:ext cx="768096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MQ coverage gap is the most critical issue:</a:t>
            </a:r>
            <a:endParaRPr lang="en-US" sz="1100" dirty="0"/>
          </a:p>
        </p:txBody>
      </p:sp>
      <p:sp>
        <p:nvSpPr>
          <p:cNvPr id="14" name="Text 12"/>
          <p:cNvSpPr/>
          <p:nvPr/>
        </p:nvSpPr>
        <p:spPr>
          <a:xfrm>
            <a:off x="960120" y="2313432"/>
            <a:ext cx="7680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 threat model that only identifies problems without recommending fixes (MQ3) or verifying completeness (MQ4) is only half a threat model. This must be addressed for production use.</a:t>
            </a:r>
            <a:endParaRPr lang="en-US" sz="1000" dirty="0"/>
          </a:p>
        </p:txBody>
      </p:sp>
      <p:sp>
        <p:nvSpPr>
          <p:cNvPr id="15" name="Shape 13"/>
          <p:cNvSpPr/>
          <p:nvPr/>
        </p:nvSpPr>
        <p:spPr>
          <a:xfrm>
            <a:off x="320040" y="2724912"/>
            <a:ext cx="8503920" cy="621792"/>
          </a:xfrm>
          <a:prstGeom prst="roundRect">
            <a:avLst>
              <a:gd name="adj" fmla="val 1764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411480" y="2816352"/>
            <a:ext cx="438912" cy="438912"/>
          </a:xfrm>
          <a:prstGeom prst="ellipse">
            <a:avLst/>
          </a:prstGeom>
          <a:solidFill>
            <a:srgbClr val="00B4D8"/>
          </a:solidFill>
          <a:ln w="12700">
            <a:solidFill>
              <a:srgbClr val="00B4D8"/>
            </a:solidFill>
            <a:prstDash val="solid"/>
          </a:ln>
        </p:spPr>
      </p:sp>
      <p:sp>
        <p:nvSpPr>
          <p:cNvPr id="17" name="Text 15"/>
          <p:cNvSpPr/>
          <p:nvPr/>
        </p:nvSpPr>
        <p:spPr>
          <a:xfrm>
            <a:off x="411480" y="281635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960120" y="2770632"/>
            <a:ext cx="768096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Hallucination validation is non-negotiable:</a:t>
            </a:r>
            <a:endParaRPr lang="en-US" sz="1100" dirty="0"/>
          </a:p>
        </p:txBody>
      </p:sp>
      <p:sp>
        <p:nvSpPr>
          <p:cNvPr id="19" name="Text 17"/>
          <p:cNvSpPr/>
          <p:nvPr/>
        </p:nvSpPr>
        <p:spPr>
          <a:xfrm>
            <a:off x="960120" y="3044952"/>
            <a:ext cx="7680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 security, an incorrect CVE ID or wrong mitigation is worse than no answer. Automated fact-checking against authoritative sources (NVD) is essential, not optional.</a:t>
            </a:r>
            <a:endParaRPr lang="en-US" sz="1000" dirty="0"/>
          </a:p>
        </p:txBody>
      </p:sp>
      <p:sp>
        <p:nvSpPr>
          <p:cNvPr id="20" name="Shape 18"/>
          <p:cNvSpPr/>
          <p:nvPr/>
        </p:nvSpPr>
        <p:spPr>
          <a:xfrm>
            <a:off x="320040" y="3456432"/>
            <a:ext cx="8503920" cy="621792"/>
          </a:xfrm>
          <a:prstGeom prst="roundRect">
            <a:avLst>
              <a:gd name="adj" fmla="val 1764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11480" y="3547872"/>
            <a:ext cx="438912" cy="438912"/>
          </a:xfrm>
          <a:prstGeom prst="ellipse">
            <a:avLst/>
          </a:prstGeom>
          <a:solidFill>
            <a:srgbClr val="00B4D8"/>
          </a:solidFill>
          <a:ln w="12700">
            <a:solidFill>
              <a:srgbClr val="00B4D8"/>
            </a:solidFill>
            <a:prstDash val="solid"/>
          </a:ln>
        </p:spPr>
      </p:sp>
      <p:sp>
        <p:nvSpPr>
          <p:cNvPr id="22" name="Text 20"/>
          <p:cNvSpPr/>
          <p:nvPr/>
        </p:nvSpPr>
        <p:spPr>
          <a:xfrm>
            <a:off x="411480" y="354787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60120" y="3502152"/>
            <a:ext cx="768096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Reproducible evaluation enables progress:</a:t>
            </a:r>
            <a:endParaRPr lang="en-US" sz="1100" dirty="0"/>
          </a:p>
        </p:txBody>
      </p:sp>
      <p:sp>
        <p:nvSpPr>
          <p:cNvPr id="24" name="Text 22"/>
          <p:cNvSpPr/>
          <p:nvPr/>
        </p:nvSpPr>
        <p:spPr>
          <a:xfrm>
            <a:off x="960120" y="3776472"/>
            <a:ext cx="7680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Binary human eval is a starting point but automated BLEU/ROUGE/BERTScore benchmarking with public ground-truth datasets allows the research community to build on this work.</a:t>
            </a:r>
            <a:endParaRPr lang="en-US" sz="1000" dirty="0"/>
          </a:p>
        </p:txBody>
      </p:sp>
      <p:sp>
        <p:nvSpPr>
          <p:cNvPr id="25" name="Shape 23"/>
          <p:cNvSpPr/>
          <p:nvPr/>
        </p:nvSpPr>
        <p:spPr>
          <a:xfrm>
            <a:off x="320040" y="4187952"/>
            <a:ext cx="8503920" cy="621792"/>
          </a:xfrm>
          <a:prstGeom prst="roundRect">
            <a:avLst>
              <a:gd name="adj" fmla="val 1764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11480" y="4279392"/>
            <a:ext cx="438912" cy="438912"/>
          </a:xfrm>
          <a:prstGeom prst="ellipse">
            <a:avLst/>
          </a:prstGeom>
          <a:solidFill>
            <a:srgbClr val="00B4D8"/>
          </a:solidFill>
          <a:ln w="12700">
            <a:solidFill>
              <a:srgbClr val="00B4D8"/>
            </a:solidFill>
            <a:prstDash val="solid"/>
          </a:ln>
        </p:spPr>
      </p:sp>
      <p:sp>
        <p:nvSpPr>
          <p:cNvPr id="27" name="Text 25"/>
          <p:cNvSpPr/>
          <p:nvPr/>
        </p:nvSpPr>
        <p:spPr>
          <a:xfrm>
            <a:off x="411480" y="42793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60120" y="4233672"/>
            <a:ext cx="768096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Privacy concerns must drive architecture:</a:t>
            </a:r>
            <a:endParaRPr lang="en-US" sz="1100" dirty="0"/>
          </a:p>
        </p:txBody>
      </p:sp>
      <p:sp>
        <p:nvSpPr>
          <p:cNvPr id="29" name="Text 27"/>
          <p:cNvSpPr/>
          <p:nvPr/>
        </p:nvSpPr>
        <p:spPr>
          <a:xfrm>
            <a:off x="960120" y="4507992"/>
            <a:ext cx="7680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For enterprise use, local deployment (Ollama + Chroma) must be a first-class option. Sensitive design docs cannot leave the organization's infrastructure.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0B4D8">
              <a:alpha val="12000"/>
            </a:srgbClr>
          </a:solidFill>
          <a:ln w="12700">
            <a:solidFill>
              <a:srgbClr val="00B4D8">
                <a:alpha val="12000"/>
              </a:srgbClr>
            </a:solidFill>
            <a:prstDash val="solid"/>
          </a:ln>
        </p:spPr>
      </p:sp>
      <p:sp>
        <p:nvSpPr>
          <p:cNvPr id="3" name="Shape 1"/>
          <p:cNvSpPr/>
          <p:nvPr/>
        </p:nvSpPr>
        <p:spPr>
          <a:xfrm>
            <a:off x="-1828800" y="2286000"/>
            <a:ext cx="3657600" cy="3657600"/>
          </a:xfrm>
          <a:prstGeom prst="ellipse">
            <a:avLst/>
          </a:prstGeom>
          <a:solidFill>
            <a:srgbClr val="2DC653">
              <a:alpha val="10000"/>
            </a:srgbClr>
          </a:solidFill>
          <a:ln w="12700">
            <a:solidFill>
              <a:srgbClr val="2DC653">
                <a:alpha val="10000"/>
              </a:srgbClr>
            </a:solidFill>
            <a:prstDash val="solid"/>
          </a:ln>
        </p:spPr>
      </p:sp>
      <p:sp>
        <p:nvSpPr>
          <p:cNvPr id="4" name="Text 2"/>
          <p:cNvSpPr/>
          <p:nvPr/>
        </p:nvSpPr>
        <p:spPr>
          <a:xfrm>
            <a:off x="548640" y="457200"/>
            <a:ext cx="8046720" cy="68580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5" name="Text 3"/>
          <p:cNvSpPr/>
          <p:nvPr/>
        </p:nvSpPr>
        <p:spPr>
          <a:xfrm>
            <a:off x="548640" y="1280160"/>
            <a:ext cx="8229600" cy="731520"/>
          </a:xfrm>
          <a:prstGeom prst="rect">
            <a:avLst/>
          </a:prstGeom>
          <a:noFill/>
          <a:ln/>
        </p:spPr>
        <p:txBody>
          <a:bodyPr wrap="square" rtlCol="0" anchor="ctr"/>
          <a:lstStyle/>
          <a:p>
            <a:pPr indent="0" marL="0">
              <a:buNone/>
            </a:pPr>
            <a:r>
              <a:rPr lang="en-US" sz="1300" dirty="0">
                <a:solidFill>
                  <a:srgbClr val="BBBBCC"/>
                </a:solidFill>
                <a:latin typeface="Calibri" pitchFamily="34" charset="0"/>
                <a:ea typeface="Calibri" pitchFamily="34" charset="-122"/>
                <a:cs typeface="Calibri" pitchFamily="34" charset="-120"/>
              </a:rPr>
              <a:t>The paper demonstrates that </a:t>
            </a:r>
            <a:pPr indent="0" marL="0">
              <a:buNone/>
            </a:pPr>
            <a:r>
              <a:rPr lang="en-US" sz="1300" b="1" dirty="0">
                <a:solidFill>
                  <a:srgbClr val="00B4D8"/>
                </a:solidFill>
                <a:latin typeface="Calibri" pitchFamily="34" charset="0"/>
                <a:ea typeface="Calibri" pitchFamily="34" charset="-122"/>
                <a:cs typeface="Calibri" pitchFamily="34" charset="-120"/>
              </a:rPr>
              <a:t>LLM (Large Language Model) + RAG (Retrieval-Augmented Generation) + NLP (Natural Language Processing)</a:t>
            </a:r>
            <a:pPr indent="0" marL="0">
              <a:buNone/>
            </a:pPr>
            <a:r>
              <a:rPr lang="en-US" sz="1300" dirty="0">
                <a:solidFill>
                  <a:srgbClr val="BBBBCC"/>
                </a:solidFill>
                <a:latin typeface="Calibri" pitchFamily="34" charset="0"/>
                <a:ea typeface="Calibri" pitchFamily="34" charset="-122"/>
                <a:cs typeface="Calibri" pitchFamily="34" charset="-120"/>
              </a:rPr>
              <a:t> can meaningfully automate threat modeling, reducing the enormous manual burden security engineers face.</a:t>
            </a:r>
            <a:endParaRPr lang="en-US" sz="1300" dirty="0"/>
          </a:p>
        </p:txBody>
      </p:sp>
      <p:sp>
        <p:nvSpPr>
          <p:cNvPr id="6" name="Text 4"/>
          <p:cNvSpPr/>
          <p:nvPr/>
        </p:nvSpPr>
        <p:spPr>
          <a:xfrm>
            <a:off x="548640" y="2121408"/>
            <a:ext cx="8229600" cy="640080"/>
          </a:xfrm>
          <a:prstGeom prst="rect">
            <a:avLst/>
          </a:prstGeom>
          <a:noFill/>
          <a:ln/>
        </p:spPr>
        <p:txBody>
          <a:bodyPr wrap="square" rtlCol="0" anchor="ctr"/>
          <a:lstStyle/>
          <a:p>
            <a:pPr indent="0" marL="0">
              <a:buNone/>
            </a:pPr>
            <a:r>
              <a:rPr lang="en-US" sz="1300" dirty="0">
                <a:solidFill>
                  <a:srgbClr val="BBBBCC"/>
                </a:solidFill>
                <a:latin typeface="Calibri" pitchFamily="34" charset="0"/>
                <a:ea typeface="Calibri" pitchFamily="34" charset="-122"/>
                <a:cs typeface="Calibri" pitchFamily="34" charset="-120"/>
              </a:rPr>
              <a:t>However, gaps remain — especially </a:t>
            </a:r>
            <a:pPr indent="0" marL="0">
              <a:buNone/>
            </a:pPr>
            <a:r>
              <a:rPr lang="en-US" sz="1300" b="1" dirty="0">
                <a:solidFill>
                  <a:srgbClr val="E63946"/>
                </a:solidFill>
                <a:latin typeface="Calibri" pitchFamily="34" charset="0"/>
                <a:ea typeface="Calibri" pitchFamily="34" charset="-122"/>
                <a:cs typeface="Calibri" pitchFamily="34" charset="-120"/>
              </a:rPr>
              <a:t>incomplete MQ coverage, hallucination risk, and weak evaluation</a:t>
            </a:r>
            <a:pPr indent="0" marL="0">
              <a:buNone/>
            </a:pPr>
            <a:r>
              <a:rPr lang="en-US" sz="1300" dirty="0">
                <a:solidFill>
                  <a:srgbClr val="BBBBCC"/>
                </a:solidFill>
                <a:latin typeface="Calibri" pitchFamily="34" charset="0"/>
                <a:ea typeface="Calibri" pitchFamily="34" charset="-122"/>
                <a:cs typeface="Calibri" pitchFamily="34" charset="-120"/>
              </a:rPr>
              <a:t>. Our improved solution addresses all six identified gaps with production-ready features.</a:t>
            </a:r>
            <a:endParaRPr lang="en-US" sz="1300" dirty="0"/>
          </a:p>
        </p:txBody>
      </p:sp>
      <p:sp>
        <p:nvSpPr>
          <p:cNvPr id="7" name="Shape 5"/>
          <p:cNvSpPr/>
          <p:nvPr/>
        </p:nvSpPr>
        <p:spPr>
          <a:xfrm>
            <a:off x="457200" y="2880360"/>
            <a:ext cx="4160520" cy="475488"/>
          </a:xfrm>
          <a:prstGeom prst="roundRect">
            <a:avLst>
              <a:gd name="adj" fmla="val 19231"/>
            </a:avLst>
          </a:prstGeom>
          <a:solidFill>
            <a:srgbClr val="00B4D8">
              <a:alpha val="15000"/>
            </a:srgbClr>
          </a:solidFill>
          <a:ln w="12700">
            <a:solidFill>
              <a:srgbClr val="00B4D8">
                <a:alpha val="50000"/>
              </a:srgbClr>
            </a:solidFill>
            <a:prstDash val="solid"/>
          </a:ln>
        </p:spPr>
      </p:sp>
      <p:sp>
        <p:nvSpPr>
          <p:cNvPr id="8" name="Text 6"/>
          <p:cNvSpPr/>
          <p:nvPr/>
        </p:nvSpPr>
        <p:spPr>
          <a:xfrm>
            <a:off x="594360" y="2880360"/>
            <a:ext cx="1097280" cy="475488"/>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Deliverable 1: </a:t>
            </a:r>
            <a:endParaRPr lang="en-US" sz="1000" dirty="0"/>
          </a:p>
        </p:txBody>
      </p:sp>
      <p:sp>
        <p:nvSpPr>
          <p:cNvPr id="9" name="Text 7"/>
          <p:cNvSpPr/>
          <p:nvPr/>
        </p:nvSpPr>
        <p:spPr>
          <a:xfrm>
            <a:off x="1600200" y="2880360"/>
            <a:ext cx="288036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PowerPoint Presentation (this file)</a:t>
            </a:r>
            <a:endParaRPr lang="en-US" sz="1000" dirty="0"/>
          </a:p>
        </p:txBody>
      </p:sp>
      <p:sp>
        <p:nvSpPr>
          <p:cNvPr id="10" name="Shape 8"/>
          <p:cNvSpPr/>
          <p:nvPr/>
        </p:nvSpPr>
        <p:spPr>
          <a:xfrm>
            <a:off x="457200" y="3520440"/>
            <a:ext cx="4160520" cy="475488"/>
          </a:xfrm>
          <a:prstGeom prst="roundRect">
            <a:avLst>
              <a:gd name="adj" fmla="val 19231"/>
            </a:avLst>
          </a:prstGeom>
          <a:solidFill>
            <a:srgbClr val="FFB703">
              <a:alpha val="15000"/>
            </a:srgbClr>
          </a:solidFill>
          <a:ln w="12700">
            <a:solidFill>
              <a:srgbClr val="FFB703">
                <a:alpha val="50000"/>
              </a:srgbClr>
            </a:solidFill>
            <a:prstDash val="solid"/>
          </a:ln>
        </p:spPr>
      </p:sp>
      <p:sp>
        <p:nvSpPr>
          <p:cNvPr id="11" name="Text 9"/>
          <p:cNvSpPr/>
          <p:nvPr/>
        </p:nvSpPr>
        <p:spPr>
          <a:xfrm>
            <a:off x="594360" y="3520440"/>
            <a:ext cx="1097280" cy="475488"/>
          </a:xfrm>
          <a:prstGeom prst="rect">
            <a:avLst/>
          </a:prstGeom>
          <a:noFill/>
          <a:ln/>
        </p:spPr>
        <p:txBody>
          <a:bodyPr wrap="square" lIns="0" tIns="0" rIns="0" bIns="0"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Deliverable 2: </a:t>
            </a:r>
            <a:endParaRPr lang="en-US" sz="1000" dirty="0"/>
          </a:p>
        </p:txBody>
      </p:sp>
      <p:sp>
        <p:nvSpPr>
          <p:cNvPr id="12" name="Text 10"/>
          <p:cNvSpPr/>
          <p:nvPr/>
        </p:nvSpPr>
        <p:spPr>
          <a:xfrm>
            <a:off x="1600200" y="3520440"/>
            <a:ext cx="288036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paper_approach.py — replication code</a:t>
            </a:r>
            <a:endParaRPr lang="en-US" sz="1000" dirty="0"/>
          </a:p>
        </p:txBody>
      </p:sp>
      <p:sp>
        <p:nvSpPr>
          <p:cNvPr id="13" name="Shape 11"/>
          <p:cNvSpPr/>
          <p:nvPr/>
        </p:nvSpPr>
        <p:spPr>
          <a:xfrm>
            <a:off x="457200" y="4160520"/>
            <a:ext cx="4160520" cy="475488"/>
          </a:xfrm>
          <a:prstGeom prst="roundRect">
            <a:avLst>
              <a:gd name="adj" fmla="val 19231"/>
            </a:avLst>
          </a:prstGeom>
          <a:solidFill>
            <a:srgbClr val="2DC653">
              <a:alpha val="15000"/>
            </a:srgbClr>
          </a:solidFill>
          <a:ln w="12700">
            <a:solidFill>
              <a:srgbClr val="2DC653">
                <a:alpha val="50000"/>
              </a:srgbClr>
            </a:solidFill>
            <a:prstDash val="solid"/>
          </a:ln>
        </p:spPr>
      </p:sp>
      <p:sp>
        <p:nvSpPr>
          <p:cNvPr id="14" name="Text 12"/>
          <p:cNvSpPr/>
          <p:nvPr/>
        </p:nvSpPr>
        <p:spPr>
          <a:xfrm>
            <a:off x="594360" y="4160520"/>
            <a:ext cx="1097280" cy="475488"/>
          </a:xfrm>
          <a:prstGeom prst="rect">
            <a:avLst/>
          </a:prstGeom>
          <a:noFill/>
          <a:ln/>
        </p:spPr>
        <p:txBody>
          <a:bodyPr wrap="square" lIns="0" tIns="0" rIns="0" bIns="0"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Deliverable 3: </a:t>
            </a:r>
            <a:endParaRPr lang="en-US" sz="1000" dirty="0"/>
          </a:p>
        </p:txBody>
      </p:sp>
      <p:sp>
        <p:nvSpPr>
          <p:cNvPr id="15" name="Text 13"/>
          <p:cNvSpPr/>
          <p:nvPr/>
        </p:nvSpPr>
        <p:spPr>
          <a:xfrm>
            <a:off x="1600200" y="4160520"/>
            <a:ext cx="288036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improved_approach.py — our enhanced system</a:t>
            </a:r>
            <a:endParaRPr lang="en-US" sz="1000" dirty="0"/>
          </a:p>
        </p:txBody>
      </p:sp>
      <p:sp>
        <p:nvSpPr>
          <p:cNvPr id="16" name="Shape 14"/>
          <p:cNvSpPr/>
          <p:nvPr/>
        </p:nvSpPr>
        <p:spPr>
          <a:xfrm>
            <a:off x="4937760" y="2880360"/>
            <a:ext cx="4160520" cy="475488"/>
          </a:xfrm>
          <a:prstGeom prst="roundRect">
            <a:avLst>
              <a:gd name="adj" fmla="val 19231"/>
            </a:avLst>
          </a:prstGeom>
          <a:solidFill>
            <a:srgbClr val="0096C7">
              <a:alpha val="15000"/>
            </a:srgbClr>
          </a:solidFill>
          <a:ln w="12700">
            <a:solidFill>
              <a:srgbClr val="0096C7">
                <a:alpha val="50000"/>
              </a:srgbClr>
            </a:solidFill>
            <a:prstDash val="solid"/>
          </a:ln>
        </p:spPr>
      </p:sp>
      <p:sp>
        <p:nvSpPr>
          <p:cNvPr id="17" name="Text 15"/>
          <p:cNvSpPr/>
          <p:nvPr/>
        </p:nvSpPr>
        <p:spPr>
          <a:xfrm>
            <a:off x="5074920" y="2880360"/>
            <a:ext cx="1097280" cy="475488"/>
          </a:xfrm>
          <a:prstGeom prst="rect">
            <a:avLst/>
          </a:prstGeom>
          <a:noFill/>
          <a:ln/>
        </p:spPr>
        <p:txBody>
          <a:bodyPr wrap="square" lIns="0" tIns="0" rIns="0" bIns="0" rtlCol="0" anchor="ctr"/>
          <a:lstStyle/>
          <a:p>
            <a:pPr indent="0" marL="0">
              <a:buNone/>
            </a:pPr>
            <a:r>
              <a:rPr lang="en-US" sz="1000" b="1" dirty="0">
                <a:solidFill>
                  <a:srgbClr val="0096C7"/>
                </a:solidFill>
                <a:latin typeface="Calibri" pitchFamily="34" charset="0"/>
                <a:ea typeface="Calibri" pitchFamily="34" charset="-122"/>
                <a:cs typeface="Calibri" pitchFamily="34" charset="-120"/>
              </a:rPr>
              <a:t>Deliverable 4: </a:t>
            </a:r>
            <a:endParaRPr lang="en-US" sz="1000" dirty="0"/>
          </a:p>
        </p:txBody>
      </p:sp>
      <p:sp>
        <p:nvSpPr>
          <p:cNvPr id="18" name="Text 16"/>
          <p:cNvSpPr/>
          <p:nvPr/>
        </p:nvSpPr>
        <p:spPr>
          <a:xfrm>
            <a:off x="6080760" y="2880360"/>
            <a:ext cx="288036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benchmark_comparison.py — evaluation framework</a:t>
            </a:r>
            <a:endParaRPr lang="en-US" sz="1000" dirty="0"/>
          </a:p>
        </p:txBody>
      </p:sp>
      <p:sp>
        <p:nvSpPr>
          <p:cNvPr id="19" name="Shape 17"/>
          <p:cNvSpPr/>
          <p:nvPr/>
        </p:nvSpPr>
        <p:spPr>
          <a:xfrm>
            <a:off x="4937760" y="3520440"/>
            <a:ext cx="4160520" cy="475488"/>
          </a:xfrm>
          <a:prstGeom prst="roundRect">
            <a:avLst>
              <a:gd name="adj" fmla="val 19231"/>
            </a:avLst>
          </a:prstGeom>
          <a:solidFill>
            <a:srgbClr val="2DC653">
              <a:alpha val="15000"/>
            </a:srgbClr>
          </a:solidFill>
          <a:ln w="12700">
            <a:solidFill>
              <a:srgbClr val="2DC653">
                <a:alpha val="50000"/>
              </a:srgbClr>
            </a:solidFill>
            <a:prstDash val="solid"/>
          </a:ln>
        </p:spPr>
      </p:sp>
      <p:sp>
        <p:nvSpPr>
          <p:cNvPr id="20" name="Text 18"/>
          <p:cNvSpPr/>
          <p:nvPr/>
        </p:nvSpPr>
        <p:spPr>
          <a:xfrm>
            <a:off x="5074920" y="3520440"/>
            <a:ext cx="1097280" cy="475488"/>
          </a:xfrm>
          <a:prstGeom prst="rect">
            <a:avLst/>
          </a:prstGeom>
          <a:noFill/>
          <a:ln/>
        </p:spPr>
        <p:txBody>
          <a:bodyPr wrap="square" lIns="0" tIns="0" rIns="0" bIns="0"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Deliverable 5: </a:t>
            </a:r>
            <a:endParaRPr lang="en-US" sz="1000" dirty="0"/>
          </a:p>
        </p:txBody>
      </p:sp>
      <p:sp>
        <p:nvSpPr>
          <p:cNvPr id="21" name="Text 19"/>
          <p:cNvSpPr/>
          <p:nvPr/>
        </p:nvSpPr>
        <p:spPr>
          <a:xfrm>
            <a:off x="6080760" y="3520440"/>
            <a:ext cx="288036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README.md — complete setup &amp; usage guide</a:t>
            </a:r>
            <a:endParaRPr lang="en-US" sz="1000" dirty="0"/>
          </a:p>
        </p:txBody>
      </p:sp>
      <p:sp>
        <p:nvSpPr>
          <p:cNvPr id="22" name="Text 20"/>
          <p:cNvSpPr/>
          <p:nvPr/>
        </p:nvSpPr>
        <p:spPr>
          <a:xfrm>
            <a:off x="548640" y="4754880"/>
            <a:ext cx="8046720" cy="347472"/>
          </a:xfrm>
          <a:prstGeom prst="rect">
            <a:avLst/>
          </a:prstGeom>
          <a:noFill/>
          <a:ln/>
        </p:spPr>
        <p:txBody>
          <a:bodyPr wrap="square" rtlCol="0" anchor="ctr"/>
          <a:lstStyle/>
          <a:p>
            <a:pPr algn="ctr" indent="0" marL="0">
              <a:buNone/>
            </a:pPr>
            <a:r>
              <a:rPr lang="en-US" sz="1400" b="1" dirty="0">
                <a:solidFill>
                  <a:srgbClr val="00B4D8"/>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2E4A"/>
          </a:solidFill>
          <a:ln>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00B4D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8229600" cy="822960"/>
          </a:xfrm>
          <a:prstGeom prst="rect">
            <a:avLst/>
          </a:prstGeom>
          <a:noFill/>
        </p:spPr>
        <p:txBody>
          <a:bodyPr wrap="none">
            <a:spAutoFit/>
          </a:bodyPr>
          <a:lstStyle/>
          <a:p>
            <a:pPr algn="l"/>
            <a:r>
              <a:rPr sz="2800" b="1">
                <a:solidFill>
                  <a:srgbClr val="FFFFFF"/>
                </a:solidFill>
                <a:latin typeface="Calibri"/>
              </a:rPr>
              <a:t>Team Contributions</a:t>
            </a:r>
          </a:p>
        </p:txBody>
      </p:sp>
      <p:sp>
        <p:nvSpPr>
          <p:cNvPr id="5" name="Rectangle 4"/>
          <p:cNvSpPr/>
          <p:nvPr/>
        </p:nvSpPr>
        <p:spPr>
          <a:xfrm>
            <a:off x="0" y="1097280"/>
            <a:ext cx="9144000" cy="45720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8229600" cy="365760"/>
          </a:xfrm>
          <a:prstGeom prst="rect">
            <a:avLst/>
          </a:prstGeom>
          <a:noFill/>
        </p:spPr>
        <p:txBody>
          <a:bodyPr wrap="none">
            <a:spAutoFit/>
          </a:bodyPr>
          <a:lstStyle/>
          <a:p>
            <a:pPr algn="l"/>
            <a:r>
              <a:rPr sz="1400" b="1">
                <a:solidFill>
                  <a:srgbClr val="FFFFFF"/>
                </a:solidFill>
                <a:latin typeface="Calibri"/>
              </a:rPr>
              <a:t>Group Members — AIT 2024</a:t>
            </a:r>
          </a:p>
        </p:txBody>
      </p:sp>
      <p:sp>
        <p:nvSpPr>
          <p:cNvPr id="7" name="Rectangle 6"/>
          <p:cNvSpPr/>
          <p:nvPr/>
        </p:nvSpPr>
        <p:spPr>
          <a:xfrm>
            <a:off x="365760" y="1691640"/>
            <a:ext cx="5303520" cy="438912"/>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60720" y="1691640"/>
            <a:ext cx="3017520" cy="438912"/>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764792"/>
            <a:ext cx="5166359" cy="347472"/>
          </a:xfrm>
          <a:prstGeom prst="rect">
            <a:avLst/>
          </a:prstGeom>
          <a:noFill/>
        </p:spPr>
        <p:txBody>
          <a:bodyPr wrap="none">
            <a:spAutoFit/>
          </a:bodyPr>
          <a:lstStyle/>
          <a:p>
            <a:pPr algn="l"/>
            <a:r>
              <a:rPr sz="1300" b="1">
                <a:solidFill>
                  <a:srgbClr val="FFFFFF"/>
                </a:solidFill>
                <a:latin typeface="Calibri"/>
              </a:rPr>
              <a:t>Name</a:t>
            </a:r>
          </a:p>
        </p:txBody>
      </p:sp>
      <p:sp>
        <p:nvSpPr>
          <p:cNvPr id="10" name="TextBox 9"/>
          <p:cNvSpPr txBox="1"/>
          <p:nvPr/>
        </p:nvSpPr>
        <p:spPr>
          <a:xfrm>
            <a:off x="5870448" y="1764792"/>
            <a:ext cx="2880360" cy="347472"/>
          </a:xfrm>
          <a:prstGeom prst="rect">
            <a:avLst/>
          </a:prstGeom>
          <a:noFill/>
        </p:spPr>
        <p:txBody>
          <a:bodyPr wrap="none">
            <a:spAutoFit/>
          </a:bodyPr>
          <a:lstStyle/>
          <a:p>
            <a:pPr algn="l"/>
            <a:r>
              <a:rPr sz="1300" b="1">
                <a:solidFill>
                  <a:srgbClr val="FFFFFF"/>
                </a:solidFill>
                <a:latin typeface="Calibri"/>
              </a:rPr>
              <a:t>Roll Number</a:t>
            </a:r>
          </a:p>
        </p:txBody>
      </p:sp>
      <p:sp>
        <p:nvSpPr>
          <p:cNvPr id="11" name="Rectangle 10"/>
          <p:cNvSpPr/>
          <p:nvPr/>
        </p:nvSpPr>
        <p:spPr>
          <a:xfrm>
            <a:off x="365760" y="2130552"/>
            <a:ext cx="5303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60720" y="2130552"/>
            <a:ext cx="3017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03704"/>
            <a:ext cx="5166359" cy="347472"/>
          </a:xfrm>
          <a:prstGeom prst="rect">
            <a:avLst/>
          </a:prstGeom>
          <a:noFill/>
        </p:spPr>
        <p:txBody>
          <a:bodyPr wrap="none">
            <a:spAutoFit/>
          </a:bodyPr>
          <a:lstStyle/>
          <a:p>
            <a:pPr algn="l"/>
            <a:r>
              <a:rPr sz="1200" b="0">
                <a:solidFill>
                  <a:srgbClr val="FFFFFF"/>
                </a:solidFill>
                <a:latin typeface="Calibri"/>
              </a:rPr>
              <a:t>Ausaf Ahmad</a:t>
            </a:r>
          </a:p>
        </p:txBody>
      </p:sp>
      <p:sp>
        <p:nvSpPr>
          <p:cNvPr id="14" name="TextBox 13"/>
          <p:cNvSpPr txBox="1"/>
          <p:nvPr/>
        </p:nvSpPr>
        <p:spPr>
          <a:xfrm>
            <a:off x="5870448" y="2203704"/>
            <a:ext cx="2880360" cy="347472"/>
          </a:xfrm>
          <a:prstGeom prst="rect">
            <a:avLst/>
          </a:prstGeom>
          <a:noFill/>
        </p:spPr>
        <p:txBody>
          <a:bodyPr wrap="none">
            <a:spAutoFit/>
          </a:bodyPr>
          <a:lstStyle/>
          <a:p>
            <a:pPr algn="l"/>
            <a:r>
              <a:rPr sz="1200" b="0">
                <a:solidFill>
                  <a:srgbClr val="00B4D8"/>
                </a:solidFill>
                <a:latin typeface="Calibri"/>
              </a:rPr>
              <a:t>G25AIT2024</a:t>
            </a:r>
          </a:p>
        </p:txBody>
      </p:sp>
      <p:sp>
        <p:nvSpPr>
          <p:cNvPr id="15" name="Rectangle 14"/>
          <p:cNvSpPr/>
          <p:nvPr/>
        </p:nvSpPr>
        <p:spPr>
          <a:xfrm>
            <a:off x="365760" y="2569464"/>
            <a:ext cx="5303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0" y="2569464"/>
            <a:ext cx="3017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2642616"/>
            <a:ext cx="5166359" cy="347472"/>
          </a:xfrm>
          <a:prstGeom prst="rect">
            <a:avLst/>
          </a:prstGeom>
          <a:noFill/>
        </p:spPr>
        <p:txBody>
          <a:bodyPr wrap="none">
            <a:spAutoFit/>
          </a:bodyPr>
          <a:lstStyle/>
          <a:p>
            <a:pPr algn="l"/>
            <a:r>
              <a:rPr sz="1200" b="0">
                <a:solidFill>
                  <a:srgbClr val="FFFFFF"/>
                </a:solidFill>
                <a:latin typeface="Calibri"/>
              </a:rPr>
              <a:t>Bhavik Pravinbhai Solanki</a:t>
            </a:r>
          </a:p>
        </p:txBody>
      </p:sp>
      <p:sp>
        <p:nvSpPr>
          <p:cNvPr id="18" name="TextBox 17"/>
          <p:cNvSpPr txBox="1"/>
          <p:nvPr/>
        </p:nvSpPr>
        <p:spPr>
          <a:xfrm>
            <a:off x="5870448" y="2642616"/>
            <a:ext cx="2880360" cy="347472"/>
          </a:xfrm>
          <a:prstGeom prst="rect">
            <a:avLst/>
          </a:prstGeom>
          <a:noFill/>
        </p:spPr>
        <p:txBody>
          <a:bodyPr wrap="none">
            <a:spAutoFit/>
          </a:bodyPr>
          <a:lstStyle/>
          <a:p>
            <a:pPr algn="l"/>
            <a:r>
              <a:rPr sz="1200" b="0">
                <a:solidFill>
                  <a:srgbClr val="00B4D8"/>
                </a:solidFill>
                <a:latin typeface="Calibri"/>
              </a:rPr>
              <a:t>G25AIT2106</a:t>
            </a:r>
          </a:p>
        </p:txBody>
      </p:sp>
      <p:sp>
        <p:nvSpPr>
          <p:cNvPr id="19" name="Rectangle 18"/>
          <p:cNvSpPr/>
          <p:nvPr/>
        </p:nvSpPr>
        <p:spPr>
          <a:xfrm>
            <a:off x="365760" y="3008376"/>
            <a:ext cx="5303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20" y="3008376"/>
            <a:ext cx="3017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3081528"/>
            <a:ext cx="5166359" cy="347472"/>
          </a:xfrm>
          <a:prstGeom prst="rect">
            <a:avLst/>
          </a:prstGeom>
          <a:noFill/>
        </p:spPr>
        <p:txBody>
          <a:bodyPr wrap="none">
            <a:spAutoFit/>
          </a:bodyPr>
          <a:lstStyle/>
          <a:p>
            <a:pPr algn="l"/>
            <a:r>
              <a:rPr sz="1200" b="0">
                <a:solidFill>
                  <a:srgbClr val="FFFFFF"/>
                </a:solidFill>
                <a:latin typeface="Calibri"/>
              </a:rPr>
              <a:t>Kapil Sharma</a:t>
            </a:r>
          </a:p>
        </p:txBody>
      </p:sp>
      <p:sp>
        <p:nvSpPr>
          <p:cNvPr id="22" name="TextBox 21"/>
          <p:cNvSpPr txBox="1"/>
          <p:nvPr/>
        </p:nvSpPr>
        <p:spPr>
          <a:xfrm>
            <a:off x="5870448" y="3081528"/>
            <a:ext cx="2880360" cy="347472"/>
          </a:xfrm>
          <a:prstGeom prst="rect">
            <a:avLst/>
          </a:prstGeom>
          <a:noFill/>
        </p:spPr>
        <p:txBody>
          <a:bodyPr wrap="none">
            <a:spAutoFit/>
          </a:bodyPr>
          <a:lstStyle/>
          <a:p>
            <a:pPr algn="l"/>
            <a:r>
              <a:rPr sz="1200" b="0">
                <a:solidFill>
                  <a:srgbClr val="00B4D8"/>
                </a:solidFill>
                <a:latin typeface="Calibri"/>
              </a:rPr>
              <a:t>G25AIT2047</a:t>
            </a:r>
          </a:p>
        </p:txBody>
      </p:sp>
      <p:sp>
        <p:nvSpPr>
          <p:cNvPr id="23" name="Rectangle 22"/>
          <p:cNvSpPr/>
          <p:nvPr/>
        </p:nvSpPr>
        <p:spPr>
          <a:xfrm>
            <a:off x="365760" y="3447288"/>
            <a:ext cx="5303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720" y="3447288"/>
            <a:ext cx="3017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520440"/>
            <a:ext cx="5166359" cy="347472"/>
          </a:xfrm>
          <a:prstGeom prst="rect">
            <a:avLst/>
          </a:prstGeom>
          <a:noFill/>
        </p:spPr>
        <p:txBody>
          <a:bodyPr wrap="none">
            <a:spAutoFit/>
          </a:bodyPr>
          <a:lstStyle/>
          <a:p>
            <a:pPr algn="l"/>
            <a:r>
              <a:rPr sz="1200" b="0">
                <a:solidFill>
                  <a:srgbClr val="FFFFFF"/>
                </a:solidFill>
                <a:latin typeface="Calibri"/>
              </a:rPr>
              <a:t>Prateek Priyadarshi</a:t>
            </a:r>
          </a:p>
        </p:txBody>
      </p:sp>
      <p:sp>
        <p:nvSpPr>
          <p:cNvPr id="26" name="TextBox 25"/>
          <p:cNvSpPr txBox="1"/>
          <p:nvPr/>
        </p:nvSpPr>
        <p:spPr>
          <a:xfrm>
            <a:off x="5870448" y="3520440"/>
            <a:ext cx="2880360" cy="347472"/>
          </a:xfrm>
          <a:prstGeom prst="rect">
            <a:avLst/>
          </a:prstGeom>
          <a:noFill/>
        </p:spPr>
        <p:txBody>
          <a:bodyPr wrap="none">
            <a:spAutoFit/>
          </a:bodyPr>
          <a:lstStyle/>
          <a:p>
            <a:pPr algn="l"/>
            <a:r>
              <a:rPr sz="1200" b="0">
                <a:solidFill>
                  <a:srgbClr val="00B4D8"/>
                </a:solidFill>
                <a:latin typeface="Calibri"/>
              </a:rPr>
              <a:t>G25AIT2074</a:t>
            </a:r>
          </a:p>
        </p:txBody>
      </p:sp>
      <p:sp>
        <p:nvSpPr>
          <p:cNvPr id="27" name="Rectangle 26"/>
          <p:cNvSpPr/>
          <p:nvPr/>
        </p:nvSpPr>
        <p:spPr>
          <a:xfrm>
            <a:off x="365760" y="3886200"/>
            <a:ext cx="5303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60720" y="3886200"/>
            <a:ext cx="3017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3959352"/>
            <a:ext cx="5166359" cy="347472"/>
          </a:xfrm>
          <a:prstGeom prst="rect">
            <a:avLst/>
          </a:prstGeom>
          <a:noFill/>
        </p:spPr>
        <p:txBody>
          <a:bodyPr wrap="none">
            <a:spAutoFit/>
          </a:bodyPr>
          <a:lstStyle/>
          <a:p>
            <a:pPr algn="l"/>
            <a:r>
              <a:rPr sz="1200" b="0">
                <a:solidFill>
                  <a:srgbClr val="FFFFFF"/>
                </a:solidFill>
                <a:latin typeface="Calibri"/>
              </a:rPr>
              <a:t>Shivender Kumar Gautam</a:t>
            </a:r>
          </a:p>
        </p:txBody>
      </p:sp>
      <p:sp>
        <p:nvSpPr>
          <p:cNvPr id="30" name="TextBox 29"/>
          <p:cNvSpPr txBox="1"/>
          <p:nvPr/>
        </p:nvSpPr>
        <p:spPr>
          <a:xfrm>
            <a:off x="5870448" y="3959352"/>
            <a:ext cx="2880360" cy="347472"/>
          </a:xfrm>
          <a:prstGeom prst="rect">
            <a:avLst/>
          </a:prstGeom>
          <a:noFill/>
        </p:spPr>
        <p:txBody>
          <a:bodyPr wrap="none">
            <a:spAutoFit/>
          </a:bodyPr>
          <a:lstStyle/>
          <a:p>
            <a:pPr algn="l"/>
            <a:r>
              <a:rPr sz="1200" b="0">
                <a:solidFill>
                  <a:srgbClr val="00B4D8"/>
                </a:solidFill>
                <a:latin typeface="Calibri"/>
              </a:rPr>
              <a:t>G25AIT2101</a:t>
            </a:r>
          </a:p>
        </p:txBody>
      </p:sp>
      <p:sp>
        <p:nvSpPr>
          <p:cNvPr id="31" name="Rectangle 30"/>
          <p:cNvSpPr/>
          <p:nvPr/>
        </p:nvSpPr>
        <p:spPr>
          <a:xfrm>
            <a:off x="365760" y="4325112"/>
            <a:ext cx="5303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60720" y="4325112"/>
            <a:ext cx="3017520" cy="438912"/>
          </a:xfrm>
          <a:prstGeom prst="rect">
            <a:avLst/>
          </a:prstGeom>
          <a:solidFill>
            <a:srgbClr val="162840"/>
          </a:solidFill>
          <a:ln>
            <a:solidFill>
              <a:srgbClr val="16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4398264"/>
            <a:ext cx="5166359" cy="347472"/>
          </a:xfrm>
          <a:prstGeom prst="rect">
            <a:avLst/>
          </a:prstGeom>
          <a:noFill/>
        </p:spPr>
        <p:txBody>
          <a:bodyPr wrap="none">
            <a:spAutoFit/>
          </a:bodyPr>
          <a:lstStyle/>
          <a:p>
            <a:pPr algn="l"/>
            <a:r>
              <a:rPr sz="1200" b="0">
                <a:solidFill>
                  <a:srgbClr val="FFFFFF"/>
                </a:solidFill>
                <a:latin typeface="Calibri"/>
              </a:rPr>
              <a:t>Sudershan Singh</a:t>
            </a:r>
          </a:p>
        </p:txBody>
      </p:sp>
      <p:sp>
        <p:nvSpPr>
          <p:cNvPr id="34" name="TextBox 33"/>
          <p:cNvSpPr txBox="1"/>
          <p:nvPr/>
        </p:nvSpPr>
        <p:spPr>
          <a:xfrm>
            <a:off x="5870448" y="4398264"/>
            <a:ext cx="2880360" cy="347472"/>
          </a:xfrm>
          <a:prstGeom prst="rect">
            <a:avLst/>
          </a:prstGeom>
          <a:noFill/>
        </p:spPr>
        <p:txBody>
          <a:bodyPr wrap="none">
            <a:spAutoFit/>
          </a:bodyPr>
          <a:lstStyle/>
          <a:p>
            <a:pPr algn="l"/>
            <a:r>
              <a:rPr sz="1200" b="0">
                <a:solidFill>
                  <a:srgbClr val="00B4D8"/>
                </a:solidFill>
                <a:latin typeface="Calibri"/>
              </a:rPr>
              <a:t>G25AIT2114</a:t>
            </a:r>
          </a:p>
        </p:txBody>
      </p:sp>
      <p:sp>
        <p:nvSpPr>
          <p:cNvPr id="35" name="Rectangle 34"/>
          <p:cNvSpPr/>
          <p:nvPr/>
        </p:nvSpPr>
        <p:spPr>
          <a:xfrm>
            <a:off x="365760" y="4764024"/>
            <a:ext cx="5303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760720" y="4764024"/>
            <a:ext cx="3017520" cy="43891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4837176"/>
            <a:ext cx="5166359" cy="347472"/>
          </a:xfrm>
          <a:prstGeom prst="rect">
            <a:avLst/>
          </a:prstGeom>
          <a:noFill/>
        </p:spPr>
        <p:txBody>
          <a:bodyPr wrap="none">
            <a:spAutoFit/>
          </a:bodyPr>
          <a:lstStyle/>
          <a:p>
            <a:pPr algn="l"/>
            <a:r>
              <a:rPr sz="1200" b="0">
                <a:solidFill>
                  <a:srgbClr val="FFFFFF"/>
                </a:solidFill>
                <a:latin typeface="Calibri"/>
              </a:rPr>
              <a:t>Suraj Samal</a:t>
            </a:r>
          </a:p>
        </p:txBody>
      </p:sp>
      <p:sp>
        <p:nvSpPr>
          <p:cNvPr id="38" name="TextBox 37"/>
          <p:cNvSpPr txBox="1"/>
          <p:nvPr/>
        </p:nvSpPr>
        <p:spPr>
          <a:xfrm>
            <a:off x="5870448" y="4837176"/>
            <a:ext cx="2880360" cy="347472"/>
          </a:xfrm>
          <a:prstGeom prst="rect">
            <a:avLst/>
          </a:prstGeom>
          <a:noFill/>
        </p:spPr>
        <p:txBody>
          <a:bodyPr wrap="none">
            <a:spAutoFit/>
          </a:bodyPr>
          <a:lstStyle/>
          <a:p>
            <a:pPr algn="l"/>
            <a:r>
              <a:rPr sz="1200" b="0">
                <a:solidFill>
                  <a:srgbClr val="00B4D8"/>
                </a:solidFill>
                <a:latin typeface="Calibri"/>
              </a:rPr>
              <a:t>G25AIT2118</a:t>
            </a:r>
          </a:p>
        </p:txBody>
      </p:sp>
      <p:sp>
        <p:nvSpPr>
          <p:cNvPr id="39" name="Rectangle 38"/>
          <p:cNvSpPr/>
          <p:nvPr/>
        </p:nvSpPr>
        <p:spPr>
          <a:xfrm>
            <a:off x="365760" y="5248655"/>
            <a:ext cx="8412480" cy="73152"/>
          </a:xfrm>
          <a:prstGeom prst="rect">
            <a:avLst/>
          </a:prstGeom>
          <a:solidFill>
            <a:srgbClr val="00B4D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LLM-based Threat Modeling: Problems, Solutions &amp; Improvements</dc:title>
  <dc:subject>PptxGenJS Presentation</dc:subject>
  <dc:creator>PptxGenJS</dc:creator>
  <cp:lastModifiedBy>PptxGenJS</cp:lastModifiedBy>
  <cp:revision>1</cp:revision>
  <dcterms:created xsi:type="dcterms:W3CDTF">2026-06-16T07:03:20Z</dcterms:created>
  <dcterms:modified xsi:type="dcterms:W3CDTF">2026-06-16T07:03:20Z</dcterms:modified>
</cp:coreProperties>
</file>